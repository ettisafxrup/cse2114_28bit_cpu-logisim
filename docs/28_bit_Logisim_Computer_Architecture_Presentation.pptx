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1.svg" ContentType="image/svg+xml"/>
  <Override PartName="/ppt/media/image23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70" r:id="rId23"/>
    <p:sldId id="260" r:id="rId10"/>
    <p:sldId id="272" r:id="rId25"/>
    <p:sldId id="261" r:id="rId11"/>
    <p:sldId id="271" r:id="rId24"/>
    <p:sldId id="262" r:id="rId12"/>
    <p:sldId id="273" r:id="rId26"/>
    <p:sldId id="263" r:id="rId13"/>
    <p:sldId id="264" r:id="rId14"/>
    <p:sldId id="274" r:id="rId27"/>
    <p:sldId id="265" r:id="rId15"/>
    <p:sldId id="266" r:id="rId16"/>
    <p:sldId id="267" r:id="rId17"/>
    <p:sldId id="275" r:id="rId28"/>
    <p:sldId id="268" r:id="rId18"/>
    <p:sldId id="269" r:id="rId19"/>
  </p:sldIdLst>
  <p:sldSz cx="18288000" cy="10287000"/>
  <p:notesSz cx="6858000" cy="9144000"/>
  <p:embeddedFontLst>
    <p:embeddedFont>
      <p:font typeface="Aptos Bold" charset="1" panose="020B0004020202020204"/>
      <p:regular r:id="rId20"/>
    </p:embeddedFont>
    <p:embeddedFont>
      <p:font typeface="Etna Sans Serif" charset="1" panose="02000600000000000000"/>
      <p:regular r:id="rId21"/>
    </p:embeddedFont>
    <p:embeddedFont>
      <p:font typeface="Aptos" charset="1" panose="020B00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22.png"/><Relationship Id="rId5" Type="http://schemas.openxmlformats.org/officeDocument/2006/relationships/image" Target="../media/image23.sv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9.png"/><Relationship Id="rId11" Type="http://schemas.openxmlformats.org/officeDocument/2006/relationships/image" Target="../media/image24.png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4893500" y="0"/>
            <a:ext cx="3404225" cy="1509941"/>
            <a:chOff x="0" y="0"/>
            <a:chExt cx="4538967" cy="20132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38980" cy="2013204"/>
            </a:xfrm>
            <a:custGeom>
              <a:avLst/>
              <a:gdLst/>
              <a:ahLst/>
              <a:cxnLst/>
              <a:rect r="r" b="b" t="t" l="l"/>
              <a:pathLst>
                <a:path h="2013204" w="4538980">
                  <a:moveTo>
                    <a:pt x="0" y="0"/>
                  </a:moveTo>
                  <a:lnTo>
                    <a:pt x="4538980" y="0"/>
                  </a:lnTo>
                  <a:lnTo>
                    <a:pt x="4538980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785FFF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5991637" y="1509941"/>
            <a:ext cx="2306088" cy="2882608"/>
            <a:chOff x="0" y="0"/>
            <a:chExt cx="3074784" cy="38434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74797" cy="3843528"/>
            </a:xfrm>
            <a:custGeom>
              <a:avLst/>
              <a:gdLst/>
              <a:ahLst/>
              <a:cxnLst/>
              <a:rect r="r" b="b" t="t" l="l"/>
              <a:pathLst>
                <a:path h="3843528" w="3074797">
                  <a:moveTo>
                    <a:pt x="0" y="0"/>
                  </a:moveTo>
                  <a:lnTo>
                    <a:pt x="3074797" y="0"/>
                  </a:lnTo>
                  <a:lnTo>
                    <a:pt x="3074797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050046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533173"/>
            <a:ext cx="4667088" cy="1761867"/>
            <a:chOff x="0" y="0"/>
            <a:chExt cx="6222784" cy="23491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22746" cy="2349181"/>
            </a:xfrm>
            <a:custGeom>
              <a:avLst/>
              <a:gdLst/>
              <a:ahLst/>
              <a:cxnLst/>
              <a:rect r="r" b="b" t="t" l="l"/>
              <a:pathLst>
                <a:path h="2349181" w="6222746">
                  <a:moveTo>
                    <a:pt x="0" y="0"/>
                  </a:moveTo>
                  <a:lnTo>
                    <a:pt x="6222746" y="0"/>
                  </a:lnTo>
                  <a:lnTo>
                    <a:pt x="6222746" y="2349181"/>
                  </a:lnTo>
                  <a:lnTo>
                    <a:pt x="0" y="2349181"/>
                  </a:lnTo>
                  <a:close/>
                </a:path>
              </a:pathLst>
            </a:custGeom>
            <a:solidFill>
              <a:srgbClr val="050046"/>
            </a:solidFill>
          </p:spPr>
          <p:txBody>
            <a:bodyPr/>
            <a:p/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299271"/>
            <a:ext cx="26977513" cy="3488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74"/>
              </a:lnSpc>
            </a:pPr>
            <a:r>
              <a:rPr lang="en-US" sz="11478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28-BIT FUNCTIONING</a:t>
            </a:r>
          </a:p>
          <a:p>
            <a:pPr algn="l">
              <a:lnSpc>
                <a:spcPts val="13774"/>
              </a:lnSpc>
            </a:pPr>
            <a:r>
              <a:rPr lang="en-US" sz="11478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COMPUTER SYSTEM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18612" y="6036867"/>
            <a:ext cx="16864617" cy="1094882"/>
            <a:chOff x="0" y="0"/>
            <a:chExt cx="22486156" cy="145984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400856" cy="1459842"/>
              <a:chOff x="0" y="0"/>
              <a:chExt cx="4339171" cy="11728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339082" cy="1172845"/>
              </a:xfrm>
              <a:custGeom>
                <a:avLst/>
                <a:gdLst/>
                <a:ahLst/>
                <a:cxnLst/>
                <a:rect r="r" b="b" t="t" l="l"/>
                <a:pathLst>
                  <a:path h="1172845" w="4339082">
                    <a:moveTo>
                      <a:pt x="0" y="195453"/>
                    </a:moveTo>
                    <a:cubicBezTo>
                      <a:pt x="0" y="87503"/>
                      <a:pt x="87503" y="0"/>
                      <a:pt x="195453" y="0"/>
                    </a:cubicBezTo>
                    <a:lnTo>
                      <a:pt x="4143629" y="0"/>
                    </a:lnTo>
                    <a:cubicBezTo>
                      <a:pt x="4251579" y="0"/>
                      <a:pt x="4339082" y="87503"/>
                      <a:pt x="4339082" y="195453"/>
                    </a:cubicBezTo>
                    <a:lnTo>
                      <a:pt x="4339082" y="977392"/>
                    </a:lnTo>
                    <a:cubicBezTo>
                      <a:pt x="4339082" y="1085342"/>
                      <a:pt x="4251579" y="1172845"/>
                      <a:pt x="4143629" y="1172845"/>
                    </a:cubicBezTo>
                    <a:lnTo>
                      <a:pt x="195453" y="1172845"/>
                    </a:lnTo>
                    <a:cubicBezTo>
                      <a:pt x="87503" y="1172845"/>
                      <a:pt x="0" y="1085342"/>
                      <a:pt x="0" y="977392"/>
                    </a:cubicBezTo>
                    <a:close/>
                  </a:path>
                </a:pathLst>
              </a:custGeom>
              <a:solidFill>
                <a:srgbClr val="050046"/>
              </a:solidFill>
              <a:ln w="28597" cap="sq">
                <a:solidFill>
                  <a:srgbClr val="96EBFF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4339171" cy="1172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1"/>
                  </a:lnSpc>
                </a:pPr>
                <a:r>
                  <a:rPr lang="en-US" sz="195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CPU + MEMORY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5695095" y="0"/>
              <a:ext cx="5400856" cy="1459842"/>
              <a:chOff x="0" y="0"/>
              <a:chExt cx="4339171" cy="117287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339082" cy="1172845"/>
              </a:xfrm>
              <a:custGeom>
                <a:avLst/>
                <a:gdLst/>
                <a:ahLst/>
                <a:cxnLst/>
                <a:rect r="r" b="b" t="t" l="l"/>
                <a:pathLst>
                  <a:path h="1172845" w="4339082">
                    <a:moveTo>
                      <a:pt x="0" y="195453"/>
                    </a:moveTo>
                    <a:cubicBezTo>
                      <a:pt x="0" y="87503"/>
                      <a:pt x="87503" y="0"/>
                      <a:pt x="195453" y="0"/>
                    </a:cubicBezTo>
                    <a:lnTo>
                      <a:pt x="4143629" y="0"/>
                    </a:lnTo>
                    <a:cubicBezTo>
                      <a:pt x="4251579" y="0"/>
                      <a:pt x="4339082" y="87503"/>
                      <a:pt x="4339082" y="195453"/>
                    </a:cubicBezTo>
                    <a:lnTo>
                      <a:pt x="4339082" y="977392"/>
                    </a:lnTo>
                    <a:cubicBezTo>
                      <a:pt x="4339082" y="1085342"/>
                      <a:pt x="4251579" y="1172845"/>
                      <a:pt x="4143629" y="1172845"/>
                    </a:cubicBezTo>
                    <a:lnTo>
                      <a:pt x="195453" y="1172845"/>
                    </a:lnTo>
                    <a:cubicBezTo>
                      <a:pt x="87503" y="1172845"/>
                      <a:pt x="0" y="1085342"/>
                      <a:pt x="0" y="977392"/>
                    </a:cubicBezTo>
                    <a:close/>
                  </a:path>
                </a:pathLst>
              </a:custGeom>
              <a:solidFill>
                <a:srgbClr val="050046"/>
              </a:solidFill>
              <a:ln w="28597" cap="sq">
                <a:solidFill>
                  <a:srgbClr val="46E6AA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4339171" cy="1172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1"/>
                  </a:lnSpc>
                </a:pPr>
                <a:r>
                  <a:rPr lang="en-US" sz="195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CACHE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1390205" y="0"/>
              <a:ext cx="5400856" cy="1459842"/>
              <a:chOff x="0" y="0"/>
              <a:chExt cx="4339171" cy="11728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339082" cy="1172845"/>
              </a:xfrm>
              <a:custGeom>
                <a:avLst/>
                <a:gdLst/>
                <a:ahLst/>
                <a:cxnLst/>
                <a:rect r="r" b="b" t="t" l="l"/>
                <a:pathLst>
                  <a:path h="1172845" w="4339082">
                    <a:moveTo>
                      <a:pt x="0" y="195453"/>
                    </a:moveTo>
                    <a:cubicBezTo>
                      <a:pt x="0" y="87503"/>
                      <a:pt x="87503" y="0"/>
                      <a:pt x="195453" y="0"/>
                    </a:cubicBezTo>
                    <a:lnTo>
                      <a:pt x="4143629" y="0"/>
                    </a:lnTo>
                    <a:cubicBezTo>
                      <a:pt x="4251579" y="0"/>
                      <a:pt x="4339082" y="87503"/>
                      <a:pt x="4339082" y="195453"/>
                    </a:cubicBezTo>
                    <a:lnTo>
                      <a:pt x="4339082" y="977392"/>
                    </a:lnTo>
                    <a:cubicBezTo>
                      <a:pt x="4339082" y="1085342"/>
                      <a:pt x="4251579" y="1172845"/>
                      <a:pt x="4143629" y="1172845"/>
                    </a:cubicBezTo>
                    <a:lnTo>
                      <a:pt x="195453" y="1172845"/>
                    </a:lnTo>
                    <a:cubicBezTo>
                      <a:pt x="87503" y="1172845"/>
                      <a:pt x="0" y="1085342"/>
                      <a:pt x="0" y="977392"/>
                    </a:cubicBezTo>
                    <a:close/>
                  </a:path>
                </a:pathLst>
              </a:custGeom>
              <a:solidFill>
                <a:srgbClr val="050046"/>
              </a:solidFill>
              <a:ln w="28597" cap="sq">
                <a:solidFill>
                  <a:srgbClr val="FFDA5C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4339171" cy="1172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1"/>
                  </a:lnSpc>
                </a:pPr>
                <a:r>
                  <a:rPr lang="en-US" sz="195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BOOTH MUL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7085299" y="0"/>
              <a:ext cx="5400856" cy="1459842"/>
              <a:chOff x="0" y="0"/>
              <a:chExt cx="4339171" cy="11728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339082" cy="1172845"/>
              </a:xfrm>
              <a:custGeom>
                <a:avLst/>
                <a:gdLst/>
                <a:ahLst/>
                <a:cxnLst/>
                <a:rect r="r" b="b" t="t" l="l"/>
                <a:pathLst>
                  <a:path h="1172845" w="4339082">
                    <a:moveTo>
                      <a:pt x="0" y="195453"/>
                    </a:moveTo>
                    <a:cubicBezTo>
                      <a:pt x="0" y="87503"/>
                      <a:pt x="87503" y="0"/>
                      <a:pt x="195453" y="0"/>
                    </a:cubicBezTo>
                    <a:lnTo>
                      <a:pt x="4143629" y="0"/>
                    </a:lnTo>
                    <a:cubicBezTo>
                      <a:pt x="4251579" y="0"/>
                      <a:pt x="4339082" y="87503"/>
                      <a:pt x="4339082" y="195453"/>
                    </a:cubicBezTo>
                    <a:lnTo>
                      <a:pt x="4339082" y="977392"/>
                    </a:lnTo>
                    <a:cubicBezTo>
                      <a:pt x="4339082" y="1085342"/>
                      <a:pt x="4251579" y="1172845"/>
                      <a:pt x="4143629" y="1172845"/>
                    </a:cubicBezTo>
                    <a:lnTo>
                      <a:pt x="195453" y="1172845"/>
                    </a:lnTo>
                    <a:cubicBezTo>
                      <a:pt x="87503" y="1172845"/>
                      <a:pt x="0" y="1085342"/>
                      <a:pt x="0" y="977392"/>
                    </a:cubicBezTo>
                    <a:close/>
                  </a:path>
                </a:pathLst>
              </a:custGeom>
              <a:solidFill>
                <a:srgbClr val="050046"/>
              </a:solidFill>
              <a:ln w="28597" cap="sq">
                <a:solidFill>
                  <a:srgbClr val="FF82BE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4339171" cy="1172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1"/>
                  </a:lnSpc>
                </a:pPr>
                <a:r>
                  <a:rPr lang="en-US" sz="195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DMA</a:t>
                </a: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1120940" y="1702451"/>
            <a:ext cx="915129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96EBFF"/>
                </a:solidFill>
                <a:latin typeface="Aptos Bold"/>
                <a:ea typeface="Aptos Bold"/>
                <a:cs typeface="Aptos Bold"/>
                <a:sym typeface="Aptos Bold"/>
              </a:rPr>
              <a:t>DESIGNING 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31422" y="8865037"/>
            <a:ext cx="1135721" cy="1098137"/>
            <a:chOff x="0" y="0"/>
            <a:chExt cx="840618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0618" cy="812800"/>
            </a:xfrm>
            <a:custGeom>
              <a:avLst/>
              <a:gdLst/>
              <a:ahLst/>
              <a:cxnLst/>
              <a:rect r="r" b="b" t="t" l="l"/>
              <a:pathLst>
                <a:path h="812800" w="840618">
                  <a:moveTo>
                    <a:pt x="420309" y="0"/>
                  </a:moveTo>
                  <a:cubicBezTo>
                    <a:pt x="188179" y="0"/>
                    <a:pt x="0" y="181951"/>
                    <a:pt x="0" y="406400"/>
                  </a:cubicBezTo>
                  <a:cubicBezTo>
                    <a:pt x="0" y="630849"/>
                    <a:pt x="188179" y="812800"/>
                    <a:pt x="420309" y="812800"/>
                  </a:cubicBezTo>
                  <a:cubicBezTo>
                    <a:pt x="652439" y="812800"/>
                    <a:pt x="840618" y="630849"/>
                    <a:pt x="840618" y="406400"/>
                  </a:cubicBezTo>
                  <a:cubicBezTo>
                    <a:pt x="840618" y="181951"/>
                    <a:pt x="652439" y="0"/>
                    <a:pt x="42030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11" r="0" b="-1711"/>
              </a:stretch>
            </a:blipFill>
          </p:spPr>
          <p:txBody>
            <a:bodyPr/>
            <a:p/>
          </p:txBody>
        </p:sp>
      </p:grpSp>
      <p:sp>
        <p:nvSpPr>
          <p:cNvPr name="TextBox 27" id="27"/>
          <p:cNvSpPr txBox="true"/>
          <p:nvPr/>
        </p:nvSpPr>
        <p:spPr>
          <a:xfrm rot="0">
            <a:off x="899282" y="9018818"/>
            <a:ext cx="330939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68"/>
              </a:lnSpc>
            </a:pPr>
            <a:r>
              <a:rPr lang="en-US" sz="5224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LOGISIM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37246" y="362263"/>
            <a:ext cx="1828708" cy="491824"/>
            <a:chOff x="0" y="0"/>
            <a:chExt cx="2438277" cy="6557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 rot="0">
              <a:off x="856241" y="61182"/>
              <a:ext cx="1582036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01</a:t>
              </a: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448239" y="349400"/>
            <a:ext cx="15813050" cy="1111802"/>
            <a:chOff x="0" y="0"/>
            <a:chExt cx="21084067" cy="148240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698063" y="0"/>
              <a:ext cx="19687941" cy="1405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33"/>
                </a:lnSpc>
              </a:pPr>
              <a:r>
                <a:rPr lang="en-US" sz="694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Introducing our Undergrad Engineers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1405778"/>
              <a:ext cx="21084067" cy="76625"/>
              <a:chOff x="0" y="0"/>
              <a:chExt cx="2104758" cy="764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04771" cy="7700"/>
              </a:xfrm>
              <a:custGeom>
                <a:avLst/>
                <a:gdLst/>
                <a:ahLst/>
                <a:cxnLst/>
                <a:rect r="r" b="b" t="t" l="l"/>
                <a:pathLst>
                  <a:path h="7700" w="2104771">
                    <a:moveTo>
                      <a:pt x="0" y="0"/>
                    </a:moveTo>
                    <a:lnTo>
                      <a:pt x="2104771" y="0"/>
                    </a:lnTo>
                    <a:lnTo>
                      <a:pt x="2104771" y="7700"/>
                    </a:lnTo>
                    <a:lnTo>
                      <a:pt x="0" y="7700"/>
                    </a:lnTo>
                    <a:close/>
                  </a:path>
                </a:pathLst>
              </a:custGeom>
              <a:solidFill>
                <a:srgbClr val="96EBFF"/>
              </a:solidFill>
            </p:spPr>
            <p:txBody>
              <a:bodyPr/>
              <a:p/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591731" y="1946073"/>
            <a:ext cx="3342599" cy="3849147"/>
            <a:chOff x="0" y="0"/>
            <a:chExt cx="4456798" cy="513219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582625" y="370372"/>
              <a:ext cx="3618601" cy="361860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5611" y="0"/>
                    </a:moveTo>
                    <a:lnTo>
                      <a:pt x="747189" y="0"/>
                    </a:lnTo>
                    <a:cubicBezTo>
                      <a:pt x="764590" y="0"/>
                      <a:pt x="781279" y="6913"/>
                      <a:pt x="793583" y="19217"/>
                    </a:cubicBezTo>
                    <a:cubicBezTo>
                      <a:pt x="805887" y="31521"/>
                      <a:pt x="812800" y="48210"/>
                      <a:pt x="812800" y="65611"/>
                    </a:cubicBezTo>
                    <a:lnTo>
                      <a:pt x="812800" y="747189"/>
                    </a:lnTo>
                    <a:cubicBezTo>
                      <a:pt x="812800" y="764590"/>
                      <a:pt x="805887" y="781279"/>
                      <a:pt x="793583" y="793583"/>
                    </a:cubicBezTo>
                    <a:cubicBezTo>
                      <a:pt x="781279" y="805887"/>
                      <a:pt x="764590" y="812800"/>
                      <a:pt x="747189" y="812800"/>
                    </a:cubicBezTo>
                    <a:lnTo>
                      <a:pt x="65611" y="812800"/>
                    </a:lnTo>
                    <a:cubicBezTo>
                      <a:pt x="48210" y="812800"/>
                      <a:pt x="31521" y="805887"/>
                      <a:pt x="19217" y="793583"/>
                    </a:cubicBezTo>
                    <a:cubicBezTo>
                      <a:pt x="6913" y="781279"/>
                      <a:pt x="0" y="764590"/>
                      <a:pt x="0" y="747189"/>
                    </a:cubicBezTo>
                    <a:lnTo>
                      <a:pt x="0" y="65611"/>
                    </a:lnTo>
                    <a:cubicBezTo>
                      <a:pt x="0" y="48210"/>
                      <a:pt x="6913" y="31521"/>
                      <a:pt x="19217" y="19217"/>
                    </a:cubicBezTo>
                    <a:cubicBezTo>
                      <a:pt x="31521" y="6913"/>
                      <a:pt x="48210" y="0"/>
                      <a:pt x="65611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1449" t="-12165" r="-33633" b="-32918"/>
                </a:stretch>
              </a:blipFill>
            </p:spPr>
            <p:txBody>
              <a:bodyPr/>
              <a:p/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1165250" cy="1165250"/>
              <a:chOff x="0" y="0"/>
              <a:chExt cx="1165250" cy="116525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96EBFF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13" id="13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01</a:t>
                </a: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82625" y="4268596"/>
              <a:ext cx="3874173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1"/>
                </a:lnSpc>
              </a:pPr>
              <a:r>
                <a:rPr lang="en-US" sz="2551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DATAPATH &amp; ALU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82625" y="4776596"/>
              <a:ext cx="3874173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Shemonty 2407107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070953" y="1946073"/>
            <a:ext cx="3277490" cy="3967892"/>
            <a:chOff x="0" y="0"/>
            <a:chExt cx="4369986" cy="529052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271012" y="411955"/>
              <a:ext cx="3602525" cy="360252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9702" y="0"/>
                    </a:moveTo>
                    <a:lnTo>
                      <a:pt x="743098" y="0"/>
                    </a:lnTo>
                    <a:cubicBezTo>
                      <a:pt x="761584" y="0"/>
                      <a:pt x="779313" y="7344"/>
                      <a:pt x="792385" y="20415"/>
                    </a:cubicBezTo>
                    <a:cubicBezTo>
                      <a:pt x="805456" y="33487"/>
                      <a:pt x="812800" y="51216"/>
                      <a:pt x="812800" y="69702"/>
                    </a:cubicBezTo>
                    <a:lnTo>
                      <a:pt x="812800" y="743098"/>
                    </a:lnTo>
                    <a:cubicBezTo>
                      <a:pt x="812800" y="761584"/>
                      <a:pt x="805456" y="779313"/>
                      <a:pt x="792385" y="792385"/>
                    </a:cubicBezTo>
                    <a:cubicBezTo>
                      <a:pt x="779313" y="805456"/>
                      <a:pt x="761584" y="812800"/>
                      <a:pt x="743098" y="812800"/>
                    </a:cubicBezTo>
                    <a:lnTo>
                      <a:pt x="69702" y="812800"/>
                    </a:lnTo>
                    <a:cubicBezTo>
                      <a:pt x="51216" y="812800"/>
                      <a:pt x="33487" y="805456"/>
                      <a:pt x="20415" y="792385"/>
                    </a:cubicBezTo>
                    <a:cubicBezTo>
                      <a:pt x="7344" y="779313"/>
                      <a:pt x="0" y="761584"/>
                      <a:pt x="0" y="743098"/>
                    </a:cubicBezTo>
                    <a:lnTo>
                      <a:pt x="0" y="69702"/>
                    </a:lnTo>
                    <a:cubicBezTo>
                      <a:pt x="0" y="51216"/>
                      <a:pt x="7344" y="33487"/>
                      <a:pt x="20415" y="20415"/>
                    </a:cubicBezTo>
                    <a:cubicBezTo>
                      <a:pt x="33487" y="7344"/>
                      <a:pt x="51216" y="0"/>
                      <a:pt x="69702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38191" t="-9901" r="-41492" b="-69782"/>
                </a:stretch>
              </a:blipFill>
            </p:spPr>
            <p:txBody>
              <a:bodyPr/>
              <a:p/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1232416" cy="1232416"/>
              <a:chOff x="0" y="0"/>
              <a:chExt cx="1165250" cy="116525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785FFF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02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71012" y="4354821"/>
              <a:ext cx="4097484" cy="537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36"/>
                </a:lnSpc>
              </a:pPr>
              <a:r>
                <a:rPr lang="en-US" sz="2696" b="true">
                  <a:solidFill>
                    <a:srgbClr val="785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CONTROL UNIT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2502" y="4914426"/>
              <a:ext cx="4097484" cy="376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6"/>
                </a:lnSpc>
              </a:pPr>
              <a:r>
                <a:rPr lang="en-US" sz="190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Ratul 2407108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48442" y="1946073"/>
            <a:ext cx="3311242" cy="3868113"/>
            <a:chOff x="0" y="0"/>
            <a:chExt cx="4414990" cy="5157484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540817" y="365222"/>
              <a:ext cx="3641248" cy="3641248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5203" y="0"/>
                    </a:moveTo>
                    <a:lnTo>
                      <a:pt x="747597" y="0"/>
                    </a:lnTo>
                    <a:cubicBezTo>
                      <a:pt x="783608" y="0"/>
                      <a:pt x="812800" y="29192"/>
                      <a:pt x="812800" y="65203"/>
                    </a:cubicBezTo>
                    <a:lnTo>
                      <a:pt x="812800" y="747597"/>
                    </a:lnTo>
                    <a:cubicBezTo>
                      <a:pt x="812800" y="783608"/>
                      <a:pt x="783608" y="812800"/>
                      <a:pt x="747597" y="812800"/>
                    </a:cubicBezTo>
                    <a:lnTo>
                      <a:pt x="65203" y="812800"/>
                    </a:lnTo>
                    <a:cubicBezTo>
                      <a:pt x="29192" y="812800"/>
                      <a:pt x="0" y="783608"/>
                      <a:pt x="0" y="747597"/>
                    </a:cubicBezTo>
                    <a:lnTo>
                      <a:pt x="0" y="65203"/>
                    </a:lnTo>
                    <a:cubicBezTo>
                      <a:pt x="0" y="29192"/>
                      <a:pt x="29192" y="0"/>
                      <a:pt x="65203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  <p:txBody>
              <a:bodyPr/>
              <a:p/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1165250" cy="1165250"/>
              <a:chOff x="0" y="0"/>
              <a:chExt cx="1165250" cy="116525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FFDA5C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03</a:t>
                </a: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540817" y="4272777"/>
              <a:ext cx="3874173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DA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ARITHMETIC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40817" y="4801884"/>
              <a:ext cx="3874173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Mahima 2407106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278258" y="1789643"/>
            <a:ext cx="4023582" cy="4280752"/>
            <a:chOff x="0" y="0"/>
            <a:chExt cx="5364776" cy="5707669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389318" y="361042"/>
              <a:ext cx="3637261" cy="3637261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5274" y="0"/>
                    </a:moveTo>
                    <a:lnTo>
                      <a:pt x="747526" y="0"/>
                    </a:lnTo>
                    <a:cubicBezTo>
                      <a:pt x="764838" y="0"/>
                      <a:pt x="781440" y="6877"/>
                      <a:pt x="793682" y="19118"/>
                    </a:cubicBezTo>
                    <a:cubicBezTo>
                      <a:pt x="805923" y="31360"/>
                      <a:pt x="812800" y="47962"/>
                      <a:pt x="812800" y="65274"/>
                    </a:cubicBezTo>
                    <a:lnTo>
                      <a:pt x="812800" y="747526"/>
                    </a:lnTo>
                    <a:cubicBezTo>
                      <a:pt x="812800" y="764838"/>
                      <a:pt x="805923" y="781440"/>
                      <a:pt x="793682" y="793682"/>
                    </a:cubicBezTo>
                    <a:cubicBezTo>
                      <a:pt x="781440" y="805923"/>
                      <a:pt x="764838" y="812800"/>
                      <a:pt x="747526" y="812800"/>
                    </a:cubicBezTo>
                    <a:lnTo>
                      <a:pt x="65274" y="812800"/>
                    </a:lnTo>
                    <a:cubicBezTo>
                      <a:pt x="47962" y="812800"/>
                      <a:pt x="31360" y="805923"/>
                      <a:pt x="19118" y="793682"/>
                    </a:cubicBezTo>
                    <a:cubicBezTo>
                      <a:pt x="6877" y="781440"/>
                      <a:pt x="0" y="764838"/>
                      <a:pt x="0" y="747526"/>
                    </a:cubicBezTo>
                    <a:lnTo>
                      <a:pt x="0" y="65274"/>
                    </a:lnTo>
                    <a:cubicBezTo>
                      <a:pt x="0" y="47962"/>
                      <a:pt x="6877" y="31360"/>
                      <a:pt x="19118" y="19118"/>
                    </a:cubicBezTo>
                    <a:cubicBezTo>
                      <a:pt x="31360" y="6877"/>
                      <a:pt x="47962" y="0"/>
                      <a:pt x="65274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  <p:txBody>
              <a:bodyPr/>
              <a:p/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1165250" cy="1165250"/>
              <a:chOff x="0" y="0"/>
              <a:chExt cx="1165250" cy="116525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FF82BE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37" id="37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05</a:t>
                </a: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89318" y="4336069"/>
              <a:ext cx="4975458" cy="1016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82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CACHE &amp; DMA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408711" y="5352069"/>
              <a:ext cx="3874173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Thowai 2407109</a:t>
              </a:r>
            </a:p>
          </p:txBody>
        </p:sp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40928" y="6969442"/>
            <a:ext cx="1834603" cy="1791377"/>
          </a:xfrm>
          <a:prstGeom prst="rect">
            <a:avLst/>
          </a:prstGeom>
        </p:spPr>
      </p:pic>
      <p:grpSp>
        <p:nvGrpSpPr>
          <p:cNvPr name="Group 41" id="41"/>
          <p:cNvGrpSpPr/>
          <p:nvPr/>
        </p:nvGrpSpPr>
        <p:grpSpPr>
          <a:xfrm rot="0">
            <a:off x="10793035" y="1946073"/>
            <a:ext cx="3164592" cy="3868113"/>
            <a:chOff x="0" y="0"/>
            <a:chExt cx="4219456" cy="5157484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345283" y="189985"/>
              <a:ext cx="3778599" cy="3778599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2833" y="0"/>
                    </a:moveTo>
                    <a:lnTo>
                      <a:pt x="749967" y="0"/>
                    </a:lnTo>
                    <a:cubicBezTo>
                      <a:pt x="766632" y="0"/>
                      <a:pt x="782613" y="6620"/>
                      <a:pt x="794397" y="18403"/>
                    </a:cubicBezTo>
                    <a:cubicBezTo>
                      <a:pt x="806180" y="30187"/>
                      <a:pt x="812800" y="46168"/>
                      <a:pt x="812800" y="62833"/>
                    </a:cubicBezTo>
                    <a:lnTo>
                      <a:pt x="812800" y="749967"/>
                    </a:lnTo>
                    <a:cubicBezTo>
                      <a:pt x="812800" y="766632"/>
                      <a:pt x="806180" y="782613"/>
                      <a:pt x="794397" y="794397"/>
                    </a:cubicBezTo>
                    <a:cubicBezTo>
                      <a:pt x="782613" y="806180"/>
                      <a:pt x="766632" y="812800"/>
                      <a:pt x="749967" y="812800"/>
                    </a:cubicBezTo>
                    <a:lnTo>
                      <a:pt x="62833" y="812800"/>
                    </a:lnTo>
                    <a:cubicBezTo>
                      <a:pt x="46168" y="812800"/>
                      <a:pt x="30187" y="806180"/>
                      <a:pt x="18403" y="794397"/>
                    </a:cubicBezTo>
                    <a:cubicBezTo>
                      <a:pt x="6620" y="782613"/>
                      <a:pt x="0" y="766632"/>
                      <a:pt x="0" y="749967"/>
                    </a:cubicBezTo>
                    <a:lnTo>
                      <a:pt x="0" y="62833"/>
                    </a:lnTo>
                    <a:cubicBezTo>
                      <a:pt x="0" y="46168"/>
                      <a:pt x="6620" y="30187"/>
                      <a:pt x="18403" y="18403"/>
                    </a:cubicBezTo>
                    <a:cubicBezTo>
                      <a:pt x="30187" y="6620"/>
                      <a:pt x="46168" y="0"/>
                      <a:pt x="62833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  <p:txBody>
              <a:bodyPr/>
              <a:p/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1165250" cy="1165250"/>
              <a:chOff x="0" y="0"/>
              <a:chExt cx="1165250" cy="116525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46E6AA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46" id="46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04</a:t>
                </a: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45283" y="4263236"/>
              <a:ext cx="3874173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46E6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MEMORY SYSTEM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345283" y="4801884"/>
              <a:ext cx="3874173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Rup 2407109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5434820" y="7168449"/>
            <a:ext cx="1476595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3"/>
              </a:lnSpc>
            </a:pPr>
            <a:r>
              <a:rPr lang="en-US" sz="6944">
                <a:solidFill>
                  <a:srgbClr val="46E6AA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28-bit</a:t>
            </a:r>
            <a:r>
              <a:rPr lang="en-US" sz="6944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Computer Designing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434820" y="8203775"/>
            <a:ext cx="1476595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DA5C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Computer Architecture </a:t>
            </a:r>
            <a:r>
              <a:rPr lang="en-US" sz="300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Laboratory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4146855" y="6840748"/>
            <a:ext cx="582431" cy="563157"/>
            <a:chOff x="0" y="0"/>
            <a:chExt cx="840618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40618" cy="812800"/>
            </a:xfrm>
            <a:custGeom>
              <a:avLst/>
              <a:gdLst/>
              <a:ahLst/>
              <a:cxnLst/>
              <a:rect r="r" b="b" t="t" l="l"/>
              <a:pathLst>
                <a:path h="812800" w="840618">
                  <a:moveTo>
                    <a:pt x="420309" y="0"/>
                  </a:moveTo>
                  <a:cubicBezTo>
                    <a:pt x="188179" y="0"/>
                    <a:pt x="0" y="181951"/>
                    <a:pt x="0" y="406400"/>
                  </a:cubicBezTo>
                  <a:cubicBezTo>
                    <a:pt x="0" y="630849"/>
                    <a:pt x="188179" y="812800"/>
                    <a:pt x="420309" y="812800"/>
                  </a:cubicBezTo>
                  <a:cubicBezTo>
                    <a:pt x="652439" y="812800"/>
                    <a:pt x="840618" y="630849"/>
                    <a:pt x="840618" y="406400"/>
                  </a:cubicBezTo>
                  <a:cubicBezTo>
                    <a:pt x="840618" y="181951"/>
                    <a:pt x="652439" y="0"/>
                    <a:pt x="420309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711" r="0" b="-1711"/>
              </a:stretch>
            </a:blipFill>
          </p:spPr>
          <p:txBody>
            <a:bodyPr/>
            <a:p/>
          </p:txBody>
        </p:sp>
      </p:grpSp>
      <p:sp>
        <p:nvSpPr>
          <p:cNvPr name="TextBox 53" id="53"/>
          <p:cNvSpPr txBox="true"/>
          <p:nvPr/>
        </p:nvSpPr>
        <p:spPr>
          <a:xfrm rot="0">
            <a:off x="14446168" y="6919611"/>
            <a:ext cx="1689058" cy="4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14"/>
              </a:lnSpc>
            </a:pPr>
            <a:r>
              <a:rPr lang="en-US" sz="267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LOGISIM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533886" y="9258300"/>
            <a:ext cx="1922567" cy="491824"/>
            <a:chOff x="0" y="0"/>
            <a:chExt cx="2563423" cy="65576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3834" y="4485217"/>
            <a:ext cx="3162598" cy="2115652"/>
            <a:chOff x="0" y="0"/>
            <a:chExt cx="2929735" cy="19598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9698" cy="1959864"/>
            </a:xfrm>
            <a:custGeom>
              <a:avLst/>
              <a:gdLst/>
              <a:ahLst/>
              <a:cxnLst/>
              <a:rect r="r" b="b" t="t" l="l"/>
              <a:pathLst>
                <a:path h="1959864" w="2929698">
                  <a:moveTo>
                    <a:pt x="0" y="326644"/>
                  </a:moveTo>
                  <a:cubicBezTo>
                    <a:pt x="0" y="146304"/>
                    <a:pt x="107883" y="0"/>
                    <a:pt x="240864" y="0"/>
                  </a:cubicBezTo>
                  <a:lnTo>
                    <a:pt x="2688834" y="0"/>
                  </a:lnTo>
                  <a:cubicBezTo>
                    <a:pt x="2821909" y="0"/>
                    <a:pt x="2929698" y="146304"/>
                    <a:pt x="2929698" y="326644"/>
                  </a:cubicBezTo>
                  <a:lnTo>
                    <a:pt x="2929698" y="1633220"/>
                  </a:lnTo>
                  <a:cubicBezTo>
                    <a:pt x="2929698" y="1813687"/>
                    <a:pt x="2821815" y="1959864"/>
                    <a:pt x="2688834" y="1959864"/>
                  </a:cubicBezTo>
                  <a:lnTo>
                    <a:pt x="240864" y="1959864"/>
                  </a:lnTo>
                  <a:cubicBezTo>
                    <a:pt x="107883" y="1959864"/>
                    <a:pt x="0" y="1813687"/>
                    <a:pt x="0" y="1633220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785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929735" cy="196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CONTROL UNIT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ROM + FSM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17414" y="4485217"/>
            <a:ext cx="3117113" cy="2115652"/>
            <a:chOff x="0" y="0"/>
            <a:chExt cx="4156151" cy="28208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56075" cy="2820836"/>
            </a:xfrm>
            <a:custGeom>
              <a:avLst/>
              <a:gdLst/>
              <a:ahLst/>
              <a:cxnLst/>
              <a:rect r="r" b="b" t="t" l="l"/>
              <a:pathLst>
                <a:path h="2820836" w="4156075">
                  <a:moveTo>
                    <a:pt x="0" y="470112"/>
                  </a:moveTo>
                  <a:cubicBezTo>
                    <a:pt x="0" y="210480"/>
                    <a:pt x="159893" y="0"/>
                    <a:pt x="357124" y="0"/>
                  </a:cubicBezTo>
                  <a:lnTo>
                    <a:pt x="3798951" y="0"/>
                  </a:lnTo>
                  <a:cubicBezTo>
                    <a:pt x="3996182" y="0"/>
                    <a:pt x="4156075" y="210480"/>
                    <a:pt x="4156075" y="470112"/>
                  </a:cubicBezTo>
                  <a:lnTo>
                    <a:pt x="4156075" y="2350725"/>
                  </a:lnTo>
                  <a:cubicBezTo>
                    <a:pt x="4156075" y="2610356"/>
                    <a:pt x="3996182" y="2820836"/>
                    <a:pt x="3798951" y="2820836"/>
                  </a:cubicBezTo>
                  <a:lnTo>
                    <a:pt x="357124" y="2820836"/>
                  </a:lnTo>
                  <a:cubicBezTo>
                    <a:pt x="159893" y="2820836"/>
                    <a:pt x="0" y="2610356"/>
                    <a:pt x="0" y="2350725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156151" cy="2830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DATAPATH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REGISTERS + ALU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631534" y="4347952"/>
            <a:ext cx="3117113" cy="2252917"/>
            <a:chOff x="0" y="0"/>
            <a:chExt cx="4156151" cy="30038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56075" cy="3003854"/>
            </a:xfrm>
            <a:custGeom>
              <a:avLst/>
              <a:gdLst/>
              <a:ahLst/>
              <a:cxnLst/>
              <a:rect r="r" b="b" t="t" l="l"/>
              <a:pathLst>
                <a:path h="3003854" w="4156075">
                  <a:moveTo>
                    <a:pt x="0" y="500613"/>
                  </a:moveTo>
                  <a:cubicBezTo>
                    <a:pt x="0" y="224136"/>
                    <a:pt x="159893" y="0"/>
                    <a:pt x="357124" y="0"/>
                  </a:cubicBezTo>
                  <a:lnTo>
                    <a:pt x="3798951" y="0"/>
                  </a:lnTo>
                  <a:cubicBezTo>
                    <a:pt x="3996182" y="0"/>
                    <a:pt x="4156075" y="224136"/>
                    <a:pt x="4156075" y="500613"/>
                  </a:cubicBezTo>
                  <a:lnTo>
                    <a:pt x="4156075" y="2503241"/>
                  </a:lnTo>
                  <a:cubicBezTo>
                    <a:pt x="4156075" y="2779718"/>
                    <a:pt x="3996182" y="3003854"/>
                    <a:pt x="3798951" y="3003854"/>
                  </a:cubicBezTo>
                  <a:lnTo>
                    <a:pt x="357124" y="3003854"/>
                  </a:lnTo>
                  <a:cubicBezTo>
                    <a:pt x="159893" y="3003854"/>
                    <a:pt x="0" y="2779718"/>
                    <a:pt x="0" y="2503241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DA5C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156151" cy="3013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ARITHMETIC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BOOTH MUL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60205" y="4347952"/>
            <a:ext cx="4439887" cy="2252917"/>
            <a:chOff x="0" y="0"/>
            <a:chExt cx="5919849" cy="30038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19938" cy="3003915"/>
            </a:xfrm>
            <a:custGeom>
              <a:avLst/>
              <a:gdLst/>
              <a:ahLst/>
              <a:cxnLst/>
              <a:rect r="r" b="b" t="t" l="l"/>
              <a:pathLst>
                <a:path h="3003915" w="5919938">
                  <a:moveTo>
                    <a:pt x="0" y="500736"/>
                  </a:moveTo>
                  <a:cubicBezTo>
                    <a:pt x="0" y="224039"/>
                    <a:pt x="79756" y="0"/>
                    <a:pt x="178258" y="0"/>
                  </a:cubicBezTo>
                  <a:lnTo>
                    <a:pt x="5741651" y="0"/>
                  </a:lnTo>
                  <a:cubicBezTo>
                    <a:pt x="5840068" y="0"/>
                    <a:pt x="5919938" y="224039"/>
                    <a:pt x="5919938" y="500736"/>
                  </a:cubicBezTo>
                  <a:lnTo>
                    <a:pt x="5919938" y="2503201"/>
                  </a:lnTo>
                  <a:cubicBezTo>
                    <a:pt x="5919938" y="2779659"/>
                    <a:pt x="5840153" y="3003915"/>
                    <a:pt x="5741651" y="3003915"/>
                  </a:cubicBezTo>
                  <a:lnTo>
                    <a:pt x="178258" y="3003915"/>
                  </a:lnTo>
                  <a:cubicBezTo>
                    <a:pt x="79756" y="3003915"/>
                    <a:pt x="0" y="2779659"/>
                    <a:pt x="0" y="2503201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82BE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919849" cy="3013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DMA BLOCK COPY  →  CACHE STAYS COHERENT</a:t>
              </a: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459882" y="8335097"/>
            <a:ext cx="1598836" cy="1846406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159677" y="1926474"/>
            <a:ext cx="13982485" cy="163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6"/>
              </a:lnSpc>
            </a:pPr>
            <a:r>
              <a:rPr lang="en-US" sz="10638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What Are We Building?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856" y="79950"/>
            <a:ext cx="1522288" cy="1897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13686">
            <a:off x="231084" y="8324932"/>
            <a:ext cx="1595233" cy="1866737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 rot="0">
            <a:off x="15982284" y="536876"/>
            <a:ext cx="1922567" cy="491824"/>
            <a:chOff x="0" y="0"/>
            <a:chExt cx="2563423" cy="6557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607042" y="3219763"/>
            <a:ext cx="2160307" cy="1403913"/>
            <a:chOff x="0" y="0"/>
            <a:chExt cx="2874988" cy="1868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75026" cy="1868424"/>
            </a:xfrm>
            <a:custGeom>
              <a:avLst/>
              <a:gdLst/>
              <a:ahLst/>
              <a:cxnLst/>
              <a:rect r="r" b="b" t="t" l="l"/>
              <a:pathLst>
                <a:path h="1868424" w="2875026">
                  <a:moveTo>
                    <a:pt x="0" y="311404"/>
                  </a:moveTo>
                  <a:cubicBezTo>
                    <a:pt x="0" y="139446"/>
                    <a:pt x="139446" y="0"/>
                    <a:pt x="311404" y="0"/>
                  </a:cubicBezTo>
                  <a:lnTo>
                    <a:pt x="2563622" y="0"/>
                  </a:lnTo>
                  <a:cubicBezTo>
                    <a:pt x="2735580" y="0"/>
                    <a:pt x="2875026" y="139446"/>
                    <a:pt x="2875026" y="311404"/>
                  </a:cubicBezTo>
                  <a:lnTo>
                    <a:pt x="2875026" y="1557020"/>
                  </a:lnTo>
                  <a:cubicBezTo>
                    <a:pt x="2875026" y="1728978"/>
                    <a:pt x="2735580" y="1868424"/>
                    <a:pt x="2563622" y="1868424"/>
                  </a:cubicBezTo>
                  <a:lnTo>
                    <a:pt x="311404" y="1868424"/>
                  </a:lnTo>
                  <a:cubicBezTo>
                    <a:pt x="139446" y="1868297"/>
                    <a:pt x="0" y="1728978"/>
                    <a:pt x="0" y="1557020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874988" cy="1868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57562" y="3219763"/>
            <a:ext cx="2160307" cy="1403913"/>
            <a:chOff x="0" y="0"/>
            <a:chExt cx="2874988" cy="1868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75026" cy="1868424"/>
            </a:xfrm>
            <a:custGeom>
              <a:avLst/>
              <a:gdLst/>
              <a:ahLst/>
              <a:cxnLst/>
              <a:rect r="r" b="b" t="t" l="l"/>
              <a:pathLst>
                <a:path h="1868424" w="2875026">
                  <a:moveTo>
                    <a:pt x="0" y="311404"/>
                  </a:moveTo>
                  <a:cubicBezTo>
                    <a:pt x="0" y="139446"/>
                    <a:pt x="139446" y="0"/>
                    <a:pt x="311404" y="0"/>
                  </a:cubicBezTo>
                  <a:lnTo>
                    <a:pt x="2563622" y="0"/>
                  </a:lnTo>
                  <a:cubicBezTo>
                    <a:pt x="2735580" y="0"/>
                    <a:pt x="2875026" y="139446"/>
                    <a:pt x="2875026" y="311404"/>
                  </a:cubicBezTo>
                  <a:lnTo>
                    <a:pt x="2875026" y="1557020"/>
                  </a:lnTo>
                  <a:cubicBezTo>
                    <a:pt x="2875026" y="1728978"/>
                    <a:pt x="2735580" y="1868424"/>
                    <a:pt x="2563622" y="1868424"/>
                  </a:cubicBezTo>
                  <a:lnTo>
                    <a:pt x="311404" y="1868424"/>
                  </a:lnTo>
                  <a:cubicBezTo>
                    <a:pt x="139446" y="1868297"/>
                    <a:pt x="0" y="1728978"/>
                    <a:pt x="0" y="1557020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874988" cy="1868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08082" y="2875949"/>
            <a:ext cx="2988288" cy="2091540"/>
            <a:chOff x="0" y="0"/>
            <a:chExt cx="3976885" cy="27834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76962" cy="2783459"/>
            </a:xfrm>
            <a:custGeom>
              <a:avLst/>
              <a:gdLst/>
              <a:ahLst/>
              <a:cxnLst/>
              <a:rect r="r" b="b" t="t" l="l"/>
              <a:pathLst>
                <a:path h="2783459" w="3976962">
                  <a:moveTo>
                    <a:pt x="0" y="463931"/>
                  </a:moveTo>
                  <a:cubicBezTo>
                    <a:pt x="0" y="207645"/>
                    <a:pt x="207842" y="0"/>
                    <a:pt x="464371" y="0"/>
                  </a:cubicBezTo>
                  <a:lnTo>
                    <a:pt x="3512591" y="0"/>
                  </a:lnTo>
                  <a:cubicBezTo>
                    <a:pt x="3768993" y="0"/>
                    <a:pt x="3976962" y="207645"/>
                    <a:pt x="3976962" y="463931"/>
                  </a:cubicBezTo>
                  <a:lnTo>
                    <a:pt x="3976962" y="2319528"/>
                  </a:lnTo>
                  <a:cubicBezTo>
                    <a:pt x="3976962" y="2575687"/>
                    <a:pt x="3769120" y="2783459"/>
                    <a:pt x="3512591" y="2783459"/>
                  </a:cubicBezTo>
                  <a:lnTo>
                    <a:pt x="464371" y="2783459"/>
                  </a:lnTo>
                  <a:cubicBezTo>
                    <a:pt x="207842" y="2783459"/>
                    <a:pt x="0" y="2575814"/>
                    <a:pt x="0" y="231952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976885" cy="2783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2"/>
                </a:lnSpc>
              </a:pPr>
              <a:r>
                <a:rPr lang="en-US" sz="18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REGISTER FILE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R0–R15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28-bit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21286" y="2875949"/>
            <a:ext cx="2297830" cy="2091540"/>
            <a:chOff x="0" y="0"/>
            <a:chExt cx="3058008" cy="27834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58033" cy="2783459"/>
            </a:xfrm>
            <a:custGeom>
              <a:avLst/>
              <a:gdLst/>
              <a:ahLst/>
              <a:cxnLst/>
              <a:rect r="r" b="b" t="t" l="l"/>
              <a:pathLst>
                <a:path h="2783459" w="3058033">
                  <a:moveTo>
                    <a:pt x="0" y="463931"/>
                  </a:moveTo>
                  <a:cubicBezTo>
                    <a:pt x="0" y="207645"/>
                    <a:pt x="207645" y="0"/>
                    <a:pt x="463931" y="0"/>
                  </a:cubicBezTo>
                  <a:lnTo>
                    <a:pt x="2594102" y="0"/>
                  </a:lnTo>
                  <a:cubicBezTo>
                    <a:pt x="2850261" y="0"/>
                    <a:pt x="3058033" y="207645"/>
                    <a:pt x="3058033" y="463931"/>
                  </a:cubicBezTo>
                  <a:lnTo>
                    <a:pt x="3058033" y="2319528"/>
                  </a:lnTo>
                  <a:cubicBezTo>
                    <a:pt x="3058033" y="2575687"/>
                    <a:pt x="2850388" y="2783459"/>
                    <a:pt x="2594102" y="2783459"/>
                  </a:cubicBezTo>
                  <a:lnTo>
                    <a:pt x="463931" y="2783459"/>
                  </a:lnTo>
                  <a:cubicBezTo>
                    <a:pt x="207645" y="2783459"/>
                    <a:pt x="0" y="2575814"/>
                    <a:pt x="0" y="231952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058008" cy="2783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ALU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28-bit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846863" y="2875949"/>
            <a:ext cx="2847934" cy="2091540"/>
            <a:chOff x="0" y="0"/>
            <a:chExt cx="3790099" cy="27834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90061" cy="2783459"/>
            </a:xfrm>
            <a:custGeom>
              <a:avLst/>
              <a:gdLst/>
              <a:ahLst/>
              <a:cxnLst/>
              <a:rect r="r" b="b" t="t" l="l"/>
              <a:pathLst>
                <a:path h="2783459" w="3790061">
                  <a:moveTo>
                    <a:pt x="0" y="463931"/>
                  </a:moveTo>
                  <a:cubicBezTo>
                    <a:pt x="0" y="207645"/>
                    <a:pt x="207645" y="0"/>
                    <a:pt x="463931" y="0"/>
                  </a:cubicBezTo>
                  <a:lnTo>
                    <a:pt x="3326130" y="0"/>
                  </a:lnTo>
                  <a:cubicBezTo>
                    <a:pt x="3582289" y="0"/>
                    <a:pt x="3790061" y="207645"/>
                    <a:pt x="3790061" y="463931"/>
                  </a:cubicBezTo>
                  <a:lnTo>
                    <a:pt x="3790061" y="2319528"/>
                  </a:lnTo>
                  <a:cubicBezTo>
                    <a:pt x="3790061" y="2575687"/>
                    <a:pt x="3582416" y="2783459"/>
                    <a:pt x="3326130" y="2783459"/>
                  </a:cubicBezTo>
                  <a:lnTo>
                    <a:pt x="463931" y="2783459"/>
                  </a:lnTo>
                  <a:cubicBezTo>
                    <a:pt x="207645" y="2783459"/>
                    <a:pt x="0" y="2575814"/>
                    <a:pt x="0" y="231952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790099" cy="2783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CACHE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16 lines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3735828" y="3904526"/>
            <a:ext cx="584489" cy="34377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0" id="20"/>
          <p:cNvSpPr/>
          <p:nvPr/>
        </p:nvSpPr>
        <p:spPr>
          <a:xfrm>
            <a:off x="6486358" y="3904526"/>
            <a:ext cx="584489" cy="34377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1" id="21"/>
          <p:cNvSpPr/>
          <p:nvPr/>
        </p:nvSpPr>
        <p:spPr>
          <a:xfrm>
            <a:off x="10130790" y="3904522"/>
            <a:ext cx="653247" cy="34384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2" id="22"/>
          <p:cNvSpPr/>
          <p:nvPr/>
        </p:nvSpPr>
        <p:spPr>
          <a:xfrm>
            <a:off x="13156367" y="3904522"/>
            <a:ext cx="653247" cy="34384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3" id="23"/>
          <p:cNvGrpSpPr/>
          <p:nvPr/>
        </p:nvGrpSpPr>
        <p:grpSpPr>
          <a:xfrm rot="0">
            <a:off x="13846863" y="6314096"/>
            <a:ext cx="2847934" cy="1403913"/>
            <a:chOff x="0" y="0"/>
            <a:chExt cx="3790099" cy="1868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90061" cy="1868424"/>
            </a:xfrm>
            <a:custGeom>
              <a:avLst/>
              <a:gdLst/>
              <a:ahLst/>
              <a:cxnLst/>
              <a:rect r="r" b="b" t="t" l="l"/>
              <a:pathLst>
                <a:path h="1868424" w="3790061">
                  <a:moveTo>
                    <a:pt x="0" y="311404"/>
                  </a:moveTo>
                  <a:cubicBezTo>
                    <a:pt x="0" y="139446"/>
                    <a:pt x="139446" y="0"/>
                    <a:pt x="311404" y="0"/>
                  </a:cubicBezTo>
                  <a:lnTo>
                    <a:pt x="3478657" y="0"/>
                  </a:lnTo>
                  <a:cubicBezTo>
                    <a:pt x="3650615" y="0"/>
                    <a:pt x="3790061" y="139446"/>
                    <a:pt x="3790061" y="311404"/>
                  </a:cubicBezTo>
                  <a:lnTo>
                    <a:pt x="3790061" y="1557020"/>
                  </a:lnTo>
                  <a:cubicBezTo>
                    <a:pt x="3790061" y="1728978"/>
                    <a:pt x="3650615" y="1868424"/>
                    <a:pt x="3478657" y="1868424"/>
                  </a:cubicBezTo>
                  <a:lnTo>
                    <a:pt x="311404" y="1868424"/>
                  </a:lnTo>
                  <a:cubicBezTo>
                    <a:pt x="139446" y="1868297"/>
                    <a:pt x="0" y="1728978"/>
                    <a:pt x="0" y="1557020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790099" cy="187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MAIN MEMORY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4K × 28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5260522" y="5004734"/>
            <a:ext cx="34378" cy="1272118"/>
          </a:xfrm>
          <a:prstGeom prst="line">
            <a:avLst/>
          </a:prstGeom>
          <a:ln cap="rnd" w="19050">
            <a:solidFill>
              <a:srgbClr val="46E6AA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7" id="27"/>
          <p:cNvGrpSpPr/>
          <p:nvPr/>
        </p:nvGrpSpPr>
        <p:grpSpPr>
          <a:xfrm rot="0">
            <a:off x="3601168" y="6314096"/>
            <a:ext cx="7867637" cy="1403913"/>
            <a:chOff x="0" y="0"/>
            <a:chExt cx="10470439" cy="1868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70388" cy="1868424"/>
            </a:xfrm>
            <a:custGeom>
              <a:avLst/>
              <a:gdLst/>
              <a:ahLst/>
              <a:cxnLst/>
              <a:rect r="r" b="b" t="t" l="l"/>
              <a:pathLst>
                <a:path h="1868424" w="10470388">
                  <a:moveTo>
                    <a:pt x="0" y="311404"/>
                  </a:moveTo>
                  <a:cubicBezTo>
                    <a:pt x="0" y="139446"/>
                    <a:pt x="139446" y="0"/>
                    <a:pt x="311404" y="0"/>
                  </a:cubicBezTo>
                  <a:lnTo>
                    <a:pt x="10158985" y="0"/>
                  </a:lnTo>
                  <a:cubicBezTo>
                    <a:pt x="10330942" y="0"/>
                    <a:pt x="10470388" y="139446"/>
                    <a:pt x="10470388" y="311404"/>
                  </a:cubicBezTo>
                  <a:lnTo>
                    <a:pt x="10470388" y="1557020"/>
                  </a:lnTo>
                  <a:cubicBezTo>
                    <a:pt x="10470388" y="1728978"/>
                    <a:pt x="10330942" y="1868424"/>
                    <a:pt x="10158985" y="1868424"/>
                  </a:cubicBezTo>
                  <a:lnTo>
                    <a:pt x="311404" y="1868424"/>
                  </a:lnTo>
                  <a:cubicBezTo>
                    <a:pt x="139446" y="1868297"/>
                    <a:pt x="0" y="1728978"/>
                    <a:pt x="0" y="1557020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785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0470439" cy="1868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CONTROL UNIT  •  Opcode Decoder  •  FSM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V="true">
            <a:off x="7517802" y="5004734"/>
            <a:ext cx="34378" cy="1272118"/>
          </a:xfrm>
          <a:prstGeom prst="line">
            <a:avLst/>
          </a:prstGeom>
          <a:ln cap="rnd" w="19050">
            <a:solidFill>
              <a:srgbClr val="785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1" id="31"/>
          <p:cNvGrpSpPr/>
          <p:nvPr/>
        </p:nvGrpSpPr>
        <p:grpSpPr>
          <a:xfrm rot="0">
            <a:off x="10821286" y="8239465"/>
            <a:ext cx="5873511" cy="1018835"/>
            <a:chOff x="0" y="0"/>
            <a:chExt cx="7816609" cy="13558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816596" cy="1355852"/>
            </a:xfrm>
            <a:custGeom>
              <a:avLst/>
              <a:gdLst/>
              <a:ahLst/>
              <a:cxnLst/>
              <a:rect r="r" b="b" t="t" l="l"/>
              <a:pathLst>
                <a:path h="1355852" w="7816596">
                  <a:moveTo>
                    <a:pt x="0" y="225933"/>
                  </a:moveTo>
                  <a:cubicBezTo>
                    <a:pt x="0" y="101219"/>
                    <a:pt x="101219" y="0"/>
                    <a:pt x="225933" y="0"/>
                  </a:cubicBezTo>
                  <a:lnTo>
                    <a:pt x="7590663" y="0"/>
                  </a:lnTo>
                  <a:cubicBezTo>
                    <a:pt x="7715504" y="0"/>
                    <a:pt x="7816596" y="101219"/>
                    <a:pt x="7816596" y="225933"/>
                  </a:cubicBezTo>
                  <a:lnTo>
                    <a:pt x="7816596" y="1129919"/>
                  </a:lnTo>
                  <a:cubicBezTo>
                    <a:pt x="7816596" y="1254760"/>
                    <a:pt x="7715377" y="1355852"/>
                    <a:pt x="7590663" y="1355852"/>
                  </a:cubicBezTo>
                  <a:lnTo>
                    <a:pt x="225933" y="1355852"/>
                  </a:lnTo>
                  <a:cubicBezTo>
                    <a:pt x="101219" y="1355852"/>
                    <a:pt x="0" y="1254760"/>
                    <a:pt x="0" y="1129919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DA5C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816609" cy="1365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BOOTH MUL  •  DMA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1918644" y="5004738"/>
            <a:ext cx="34359" cy="3169976"/>
          </a:xfrm>
          <a:prstGeom prst="line">
            <a:avLst/>
          </a:prstGeom>
          <a:ln cap="rnd" w="19050">
            <a:solidFill>
              <a:srgbClr val="FFDA5C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5" id="35"/>
          <p:cNvGrpSpPr/>
          <p:nvPr/>
        </p:nvGrpSpPr>
        <p:grpSpPr>
          <a:xfrm rot="0">
            <a:off x="747303" y="663426"/>
            <a:ext cx="2198399" cy="1877143"/>
            <a:chOff x="0" y="0"/>
            <a:chExt cx="951904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1904" cy="812800"/>
            </a:xfrm>
            <a:custGeom>
              <a:avLst/>
              <a:gdLst/>
              <a:ahLst/>
              <a:cxnLst/>
              <a:rect r="r" b="b" t="t" l="l"/>
              <a:pathLst>
                <a:path h="812800" w="951904">
                  <a:moveTo>
                    <a:pt x="80997" y="0"/>
                  </a:moveTo>
                  <a:lnTo>
                    <a:pt x="870906" y="0"/>
                  </a:lnTo>
                  <a:cubicBezTo>
                    <a:pt x="892388" y="0"/>
                    <a:pt x="912990" y="8534"/>
                    <a:pt x="928180" y="23724"/>
                  </a:cubicBezTo>
                  <a:cubicBezTo>
                    <a:pt x="943370" y="38913"/>
                    <a:pt x="951904" y="59515"/>
                    <a:pt x="951904" y="80997"/>
                  </a:cubicBezTo>
                  <a:lnTo>
                    <a:pt x="951904" y="731803"/>
                  </a:lnTo>
                  <a:cubicBezTo>
                    <a:pt x="951904" y="753285"/>
                    <a:pt x="943370" y="773887"/>
                    <a:pt x="928180" y="789076"/>
                  </a:cubicBezTo>
                  <a:cubicBezTo>
                    <a:pt x="912990" y="804266"/>
                    <a:pt x="892388" y="812800"/>
                    <a:pt x="870906" y="812800"/>
                  </a:cubicBezTo>
                  <a:lnTo>
                    <a:pt x="80997" y="812800"/>
                  </a:lnTo>
                  <a:cubicBezTo>
                    <a:pt x="59515" y="812800"/>
                    <a:pt x="38913" y="804266"/>
                    <a:pt x="23724" y="789076"/>
                  </a:cubicBezTo>
                  <a:cubicBezTo>
                    <a:pt x="8534" y="773887"/>
                    <a:pt x="0" y="753285"/>
                    <a:pt x="0" y="731803"/>
                  </a:cubicBezTo>
                  <a:lnTo>
                    <a:pt x="0" y="80997"/>
                  </a:lnTo>
                  <a:cubicBezTo>
                    <a:pt x="0" y="59515"/>
                    <a:pt x="8534" y="38913"/>
                    <a:pt x="23724" y="23724"/>
                  </a:cubicBezTo>
                  <a:cubicBezTo>
                    <a:pt x="38913" y="8534"/>
                    <a:pt x="59515" y="0"/>
                    <a:pt x="8099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51" r="0" b="-651"/>
              </a:stretch>
            </a:blipFill>
          </p:spPr>
          <p:txBody>
            <a:bodyPr/>
            <a:p/>
          </p:txBody>
        </p:sp>
      </p:grpSp>
      <p:sp>
        <p:nvSpPr>
          <p:cNvPr name="TextBox 37" id="37"/>
          <p:cNvSpPr txBox="true"/>
          <p:nvPr/>
        </p:nvSpPr>
        <p:spPr>
          <a:xfrm rot="0">
            <a:off x="3284251" y="663426"/>
            <a:ext cx="10237918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System Architecture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5982284" y="536876"/>
            <a:ext cx="1922567" cy="491824"/>
            <a:chOff x="0" y="0"/>
            <a:chExt cx="2563423" cy="65576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552366" y="3586695"/>
            <a:ext cx="2490152" cy="2982291"/>
            <a:chOff x="0" y="0"/>
            <a:chExt cx="2984832" cy="3574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84802" cy="3574787"/>
            </a:xfrm>
            <a:custGeom>
              <a:avLst/>
              <a:gdLst/>
              <a:ahLst/>
              <a:cxnLst/>
              <a:rect r="r" b="b" t="t" l="l"/>
              <a:pathLst>
                <a:path h="3574787" w="2984802">
                  <a:moveTo>
                    <a:pt x="0" y="543328"/>
                  </a:moveTo>
                  <a:cubicBezTo>
                    <a:pt x="0" y="243263"/>
                    <a:pt x="222737" y="0"/>
                    <a:pt x="497484" y="0"/>
                  </a:cubicBezTo>
                  <a:lnTo>
                    <a:pt x="2487318" y="0"/>
                  </a:lnTo>
                  <a:cubicBezTo>
                    <a:pt x="2762064" y="0"/>
                    <a:pt x="2984802" y="243263"/>
                    <a:pt x="2984802" y="543328"/>
                  </a:cubicBezTo>
                  <a:lnTo>
                    <a:pt x="2984802" y="3031452"/>
                  </a:lnTo>
                  <a:cubicBezTo>
                    <a:pt x="2984802" y="3331516"/>
                    <a:pt x="2762064" y="3574787"/>
                    <a:pt x="2487318" y="3574787"/>
                  </a:cubicBezTo>
                  <a:lnTo>
                    <a:pt x="497484" y="3574787"/>
                  </a:lnTo>
                  <a:cubicBezTo>
                    <a:pt x="222737" y="3574787"/>
                    <a:pt x="0" y="3331516"/>
                    <a:pt x="0" y="3031452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984832" cy="3584261"/>
            </a:xfrm>
            <a:prstGeom prst="rect">
              <a:avLst/>
            </a:prstGeom>
          </p:spPr>
          <p:txBody>
            <a:bodyPr anchor="ctr" rtlCol="false" tIns="56508" lIns="56508" bIns="56508" rIns="56508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REGISTER FILE</a:t>
              </a:r>
            </a:p>
            <a:p>
              <a:pPr algn="ctr">
                <a:lnSpc>
                  <a:spcPts val="2521"/>
                </a:lnSpc>
              </a:pP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R0  R1  R2  R3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R4 … R15</a:t>
              </a:r>
            </a:p>
            <a:p>
              <a:pPr algn="ctr">
                <a:lnSpc>
                  <a:spcPts val="2521"/>
                </a:lnSpc>
              </a:pP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28-bit each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58584" y="4309010"/>
            <a:ext cx="1528162" cy="1471993"/>
            <a:chOff x="0" y="0"/>
            <a:chExt cx="1831738" cy="17644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31708" cy="1764346"/>
            </a:xfrm>
            <a:custGeom>
              <a:avLst/>
              <a:gdLst/>
              <a:ahLst/>
              <a:cxnLst/>
              <a:rect r="r" b="b" t="t" l="l"/>
              <a:pathLst>
                <a:path h="1764346" w="1831708">
                  <a:moveTo>
                    <a:pt x="0" y="294058"/>
                  </a:moveTo>
                  <a:cubicBezTo>
                    <a:pt x="0" y="131627"/>
                    <a:pt x="120520" y="0"/>
                    <a:pt x="269245" y="0"/>
                  </a:cubicBezTo>
                  <a:lnTo>
                    <a:pt x="1562463" y="0"/>
                  </a:lnTo>
                  <a:cubicBezTo>
                    <a:pt x="1711188" y="0"/>
                    <a:pt x="1831708" y="131627"/>
                    <a:pt x="1831708" y="294058"/>
                  </a:cubicBezTo>
                  <a:lnTo>
                    <a:pt x="1831708" y="1470288"/>
                  </a:lnTo>
                  <a:cubicBezTo>
                    <a:pt x="1831708" y="1632719"/>
                    <a:pt x="1711188" y="1764346"/>
                    <a:pt x="1562463" y="1764346"/>
                  </a:cubicBezTo>
                  <a:lnTo>
                    <a:pt x="269245" y="1764346"/>
                  </a:lnTo>
                  <a:cubicBezTo>
                    <a:pt x="120520" y="1764462"/>
                    <a:pt x="0" y="1632719"/>
                    <a:pt x="0" y="147028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31738" cy="1773936"/>
            </a:xfrm>
            <a:prstGeom prst="rect">
              <a:avLst/>
            </a:prstGeom>
          </p:spPr>
          <p:txBody>
            <a:bodyPr anchor="ctr" rtlCol="false" tIns="56508" lIns="56508" bIns="56508" rIns="56508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MUX 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558584" y="6410293"/>
            <a:ext cx="1528162" cy="1471993"/>
            <a:chOff x="0" y="0"/>
            <a:chExt cx="1831738" cy="17644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31708" cy="1764346"/>
            </a:xfrm>
            <a:custGeom>
              <a:avLst/>
              <a:gdLst/>
              <a:ahLst/>
              <a:cxnLst/>
              <a:rect r="r" b="b" t="t" l="l"/>
              <a:pathLst>
                <a:path h="1764346" w="1831708">
                  <a:moveTo>
                    <a:pt x="0" y="294058"/>
                  </a:moveTo>
                  <a:cubicBezTo>
                    <a:pt x="0" y="131627"/>
                    <a:pt x="120520" y="0"/>
                    <a:pt x="269245" y="0"/>
                  </a:cubicBezTo>
                  <a:lnTo>
                    <a:pt x="1562463" y="0"/>
                  </a:lnTo>
                  <a:cubicBezTo>
                    <a:pt x="1711188" y="0"/>
                    <a:pt x="1831708" y="131627"/>
                    <a:pt x="1831708" y="294058"/>
                  </a:cubicBezTo>
                  <a:lnTo>
                    <a:pt x="1831708" y="1470288"/>
                  </a:lnTo>
                  <a:cubicBezTo>
                    <a:pt x="1831708" y="1632719"/>
                    <a:pt x="1711188" y="1764346"/>
                    <a:pt x="1562463" y="1764346"/>
                  </a:cubicBezTo>
                  <a:lnTo>
                    <a:pt x="269245" y="1764346"/>
                  </a:lnTo>
                  <a:cubicBezTo>
                    <a:pt x="120520" y="1764462"/>
                    <a:pt x="0" y="1632719"/>
                    <a:pt x="0" y="147028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831738" cy="1773936"/>
            </a:xfrm>
            <a:prstGeom prst="rect">
              <a:avLst/>
            </a:prstGeom>
          </p:spPr>
          <p:txBody>
            <a:bodyPr anchor="ctr" rtlCol="false" tIns="56508" lIns="56508" bIns="56508" rIns="56508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MUX 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43313" y="4046344"/>
            <a:ext cx="2490152" cy="3376282"/>
            <a:chOff x="0" y="0"/>
            <a:chExt cx="2984832" cy="40469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84802" cy="4047008"/>
            </a:xfrm>
            <a:custGeom>
              <a:avLst/>
              <a:gdLst/>
              <a:ahLst/>
              <a:cxnLst/>
              <a:rect r="r" b="b" t="t" l="l"/>
              <a:pathLst>
                <a:path h="4047008" w="2984802">
                  <a:moveTo>
                    <a:pt x="0" y="543329"/>
                  </a:moveTo>
                  <a:cubicBezTo>
                    <a:pt x="0" y="243264"/>
                    <a:pt x="222737" y="0"/>
                    <a:pt x="497484" y="0"/>
                  </a:cubicBezTo>
                  <a:lnTo>
                    <a:pt x="2487318" y="0"/>
                  </a:lnTo>
                  <a:cubicBezTo>
                    <a:pt x="2762064" y="0"/>
                    <a:pt x="2984802" y="243264"/>
                    <a:pt x="2984802" y="543329"/>
                  </a:cubicBezTo>
                  <a:lnTo>
                    <a:pt x="2984802" y="3503676"/>
                  </a:lnTo>
                  <a:cubicBezTo>
                    <a:pt x="2984802" y="3803742"/>
                    <a:pt x="2762064" y="4047008"/>
                    <a:pt x="2487318" y="4047008"/>
                  </a:cubicBezTo>
                  <a:lnTo>
                    <a:pt x="497484" y="4047008"/>
                  </a:lnTo>
                  <a:cubicBezTo>
                    <a:pt x="222737" y="4047008"/>
                    <a:pt x="0" y="3803742"/>
                    <a:pt x="0" y="350367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984832" cy="4056520"/>
            </a:xfrm>
            <a:prstGeom prst="rect">
              <a:avLst/>
            </a:prstGeom>
          </p:spPr>
          <p:txBody>
            <a:bodyPr anchor="ctr" rtlCol="false" tIns="56508" lIns="56508" bIns="56508" rIns="56508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28-BIT ALU</a:t>
              </a:r>
            </a:p>
            <a:p>
              <a:pPr algn="ctr">
                <a:lnSpc>
                  <a:spcPts val="2521"/>
                </a:lnSpc>
              </a:pP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ADD / SUB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 / OR / XOR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SHIFT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69786" y="4046345"/>
            <a:ext cx="1648409" cy="1051737"/>
            <a:chOff x="0" y="0"/>
            <a:chExt cx="1975872" cy="12606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75949" cy="1260668"/>
            </a:xfrm>
            <a:custGeom>
              <a:avLst/>
              <a:gdLst/>
              <a:ahLst/>
              <a:cxnLst/>
              <a:rect r="r" b="b" t="t" l="l"/>
              <a:pathLst>
                <a:path h="1260668" w="1975949">
                  <a:moveTo>
                    <a:pt x="0" y="210166"/>
                  </a:moveTo>
                  <a:cubicBezTo>
                    <a:pt x="0" y="94050"/>
                    <a:pt x="86114" y="0"/>
                    <a:pt x="192432" y="0"/>
                  </a:cubicBezTo>
                  <a:lnTo>
                    <a:pt x="1783500" y="0"/>
                  </a:lnTo>
                  <a:cubicBezTo>
                    <a:pt x="1889718" y="0"/>
                    <a:pt x="1975949" y="94050"/>
                    <a:pt x="1975949" y="210166"/>
                  </a:cubicBezTo>
                  <a:lnTo>
                    <a:pt x="1975949" y="1050502"/>
                  </a:lnTo>
                  <a:cubicBezTo>
                    <a:pt x="1975949" y="1166509"/>
                    <a:pt x="1889818" y="1260668"/>
                    <a:pt x="1783500" y="1260668"/>
                  </a:cubicBezTo>
                  <a:lnTo>
                    <a:pt x="192432" y="1260668"/>
                  </a:lnTo>
                  <a:cubicBezTo>
                    <a:pt x="86114" y="1260668"/>
                    <a:pt x="0" y="1166618"/>
                    <a:pt x="0" y="1050502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785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75872" cy="1260668"/>
            </a:xfrm>
            <a:prstGeom prst="rect">
              <a:avLst/>
            </a:prstGeom>
          </p:spPr>
          <p:txBody>
            <a:bodyPr anchor="ctr" rtlCol="false" tIns="56508" lIns="56508" bIns="56508" rIns="56508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EQ / LT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969786" y="5399047"/>
            <a:ext cx="1648409" cy="1051737"/>
            <a:chOff x="0" y="0"/>
            <a:chExt cx="1975872" cy="12606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5949" cy="1260668"/>
            </a:xfrm>
            <a:custGeom>
              <a:avLst/>
              <a:gdLst/>
              <a:ahLst/>
              <a:cxnLst/>
              <a:rect r="r" b="b" t="t" l="l"/>
              <a:pathLst>
                <a:path h="1260668" w="1975949">
                  <a:moveTo>
                    <a:pt x="0" y="210166"/>
                  </a:moveTo>
                  <a:cubicBezTo>
                    <a:pt x="0" y="94050"/>
                    <a:pt x="86114" y="0"/>
                    <a:pt x="192432" y="0"/>
                  </a:cubicBezTo>
                  <a:lnTo>
                    <a:pt x="1783500" y="0"/>
                  </a:lnTo>
                  <a:cubicBezTo>
                    <a:pt x="1889718" y="0"/>
                    <a:pt x="1975949" y="94050"/>
                    <a:pt x="1975949" y="210166"/>
                  </a:cubicBezTo>
                  <a:lnTo>
                    <a:pt x="1975949" y="1050502"/>
                  </a:lnTo>
                  <a:cubicBezTo>
                    <a:pt x="1975949" y="1166509"/>
                    <a:pt x="1889818" y="1260668"/>
                    <a:pt x="1783500" y="1260668"/>
                  </a:cubicBezTo>
                  <a:lnTo>
                    <a:pt x="192432" y="1260668"/>
                  </a:lnTo>
                  <a:cubicBezTo>
                    <a:pt x="86114" y="1260668"/>
                    <a:pt x="0" y="1166618"/>
                    <a:pt x="0" y="1050502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5872" cy="1260668"/>
            </a:xfrm>
            <a:prstGeom prst="rect">
              <a:avLst/>
            </a:prstGeom>
          </p:spPr>
          <p:txBody>
            <a:bodyPr anchor="ctr" rtlCol="false" tIns="56508" lIns="56508" bIns="56508" rIns="56508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314634" y="3258367"/>
            <a:ext cx="2550280" cy="972938"/>
            <a:chOff x="0" y="0"/>
            <a:chExt cx="3056904" cy="116621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56814" cy="1166184"/>
            </a:xfrm>
            <a:custGeom>
              <a:avLst/>
              <a:gdLst/>
              <a:ahLst/>
              <a:cxnLst/>
              <a:rect r="r" b="b" t="t" l="l"/>
              <a:pathLst>
                <a:path h="1166184" w="3056814">
                  <a:moveTo>
                    <a:pt x="0" y="194328"/>
                  </a:moveTo>
                  <a:cubicBezTo>
                    <a:pt x="0" y="87060"/>
                    <a:pt x="79713" y="0"/>
                    <a:pt x="177930" y="0"/>
                  </a:cubicBezTo>
                  <a:lnTo>
                    <a:pt x="2878884" y="0"/>
                  </a:lnTo>
                  <a:cubicBezTo>
                    <a:pt x="2977200" y="0"/>
                    <a:pt x="3056814" y="87060"/>
                    <a:pt x="3056814" y="194328"/>
                  </a:cubicBezTo>
                  <a:lnTo>
                    <a:pt x="3056814" y="971856"/>
                  </a:lnTo>
                  <a:cubicBezTo>
                    <a:pt x="3056814" y="1079234"/>
                    <a:pt x="2977100" y="1166184"/>
                    <a:pt x="2878884" y="1166184"/>
                  </a:cubicBezTo>
                  <a:lnTo>
                    <a:pt x="177930" y="1166184"/>
                  </a:lnTo>
                  <a:cubicBezTo>
                    <a:pt x="79713" y="1166184"/>
                    <a:pt x="0" y="1079234"/>
                    <a:pt x="0" y="97185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056904" cy="1166217"/>
            </a:xfrm>
            <a:prstGeom prst="rect">
              <a:avLst/>
            </a:prstGeom>
          </p:spPr>
          <p:txBody>
            <a:bodyPr anchor="ctr" rtlCol="false" tIns="56508" lIns="56508" bIns="56508" rIns="56508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ADDR • PC / EA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314634" y="4532269"/>
            <a:ext cx="2550280" cy="972938"/>
            <a:chOff x="0" y="0"/>
            <a:chExt cx="3056904" cy="11662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56814" cy="1166184"/>
            </a:xfrm>
            <a:custGeom>
              <a:avLst/>
              <a:gdLst/>
              <a:ahLst/>
              <a:cxnLst/>
              <a:rect r="r" b="b" t="t" l="l"/>
              <a:pathLst>
                <a:path h="1166184" w="3056814">
                  <a:moveTo>
                    <a:pt x="0" y="194328"/>
                  </a:moveTo>
                  <a:cubicBezTo>
                    <a:pt x="0" y="87060"/>
                    <a:pt x="79713" y="0"/>
                    <a:pt x="177930" y="0"/>
                  </a:cubicBezTo>
                  <a:lnTo>
                    <a:pt x="2878884" y="0"/>
                  </a:lnTo>
                  <a:cubicBezTo>
                    <a:pt x="2977200" y="0"/>
                    <a:pt x="3056814" y="87060"/>
                    <a:pt x="3056814" y="194328"/>
                  </a:cubicBezTo>
                  <a:lnTo>
                    <a:pt x="3056814" y="971856"/>
                  </a:lnTo>
                  <a:cubicBezTo>
                    <a:pt x="3056814" y="1079234"/>
                    <a:pt x="2977100" y="1166184"/>
                    <a:pt x="2878884" y="1166184"/>
                  </a:cubicBezTo>
                  <a:lnTo>
                    <a:pt x="177930" y="1166184"/>
                  </a:lnTo>
                  <a:cubicBezTo>
                    <a:pt x="79713" y="1166184"/>
                    <a:pt x="0" y="1079234"/>
                    <a:pt x="0" y="97185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056904" cy="1166217"/>
            </a:xfrm>
            <a:prstGeom prst="rect">
              <a:avLst/>
            </a:prstGeom>
          </p:spPr>
          <p:txBody>
            <a:bodyPr anchor="ctr" rtlCol="false" tIns="56508" lIns="56508" bIns="56508" rIns="56508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CACHE • Data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314634" y="5806171"/>
            <a:ext cx="2550280" cy="972938"/>
            <a:chOff x="0" y="0"/>
            <a:chExt cx="3056904" cy="116621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56814" cy="1166184"/>
            </a:xfrm>
            <a:custGeom>
              <a:avLst/>
              <a:gdLst/>
              <a:ahLst/>
              <a:cxnLst/>
              <a:rect r="r" b="b" t="t" l="l"/>
              <a:pathLst>
                <a:path h="1166184" w="3056814">
                  <a:moveTo>
                    <a:pt x="0" y="194328"/>
                  </a:moveTo>
                  <a:cubicBezTo>
                    <a:pt x="0" y="87060"/>
                    <a:pt x="79713" y="0"/>
                    <a:pt x="177930" y="0"/>
                  </a:cubicBezTo>
                  <a:lnTo>
                    <a:pt x="2878884" y="0"/>
                  </a:lnTo>
                  <a:cubicBezTo>
                    <a:pt x="2977200" y="0"/>
                    <a:pt x="3056814" y="87060"/>
                    <a:pt x="3056814" y="194328"/>
                  </a:cubicBezTo>
                  <a:lnTo>
                    <a:pt x="3056814" y="971856"/>
                  </a:lnTo>
                  <a:cubicBezTo>
                    <a:pt x="3056814" y="1079234"/>
                    <a:pt x="2977100" y="1166184"/>
                    <a:pt x="2878884" y="1166184"/>
                  </a:cubicBezTo>
                  <a:lnTo>
                    <a:pt x="177930" y="1166184"/>
                  </a:lnTo>
                  <a:cubicBezTo>
                    <a:pt x="79713" y="1166184"/>
                    <a:pt x="0" y="1079234"/>
                    <a:pt x="0" y="97185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056904" cy="1166217"/>
            </a:xfrm>
            <a:prstGeom prst="rect">
              <a:avLst/>
            </a:prstGeom>
          </p:spPr>
          <p:txBody>
            <a:bodyPr anchor="ctr" rtlCol="false" tIns="56508" lIns="56508" bIns="56508" rIns="56508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IR • Instruction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314634" y="7080072"/>
            <a:ext cx="2550280" cy="972938"/>
            <a:chOff x="0" y="0"/>
            <a:chExt cx="3056904" cy="11662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56814" cy="1166184"/>
            </a:xfrm>
            <a:custGeom>
              <a:avLst/>
              <a:gdLst/>
              <a:ahLst/>
              <a:cxnLst/>
              <a:rect r="r" b="b" t="t" l="l"/>
              <a:pathLst>
                <a:path h="1166184" w="3056814">
                  <a:moveTo>
                    <a:pt x="0" y="194328"/>
                  </a:moveTo>
                  <a:cubicBezTo>
                    <a:pt x="0" y="87060"/>
                    <a:pt x="79713" y="0"/>
                    <a:pt x="177930" y="0"/>
                  </a:cubicBezTo>
                  <a:lnTo>
                    <a:pt x="2878884" y="0"/>
                  </a:lnTo>
                  <a:cubicBezTo>
                    <a:pt x="2977200" y="0"/>
                    <a:pt x="3056814" y="87060"/>
                    <a:pt x="3056814" y="194328"/>
                  </a:cubicBezTo>
                  <a:lnTo>
                    <a:pt x="3056814" y="971856"/>
                  </a:lnTo>
                  <a:cubicBezTo>
                    <a:pt x="3056814" y="1079234"/>
                    <a:pt x="2977100" y="1166184"/>
                    <a:pt x="2878884" y="1166184"/>
                  </a:cubicBezTo>
                  <a:lnTo>
                    <a:pt x="177930" y="1166184"/>
                  </a:lnTo>
                  <a:cubicBezTo>
                    <a:pt x="79713" y="1166184"/>
                    <a:pt x="0" y="1079234"/>
                    <a:pt x="0" y="97185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056904" cy="1166217"/>
            </a:xfrm>
            <a:prstGeom prst="rect">
              <a:avLst/>
            </a:prstGeom>
          </p:spPr>
          <p:txBody>
            <a:bodyPr anchor="ctr" rtlCol="false" tIns="56508" lIns="56508" bIns="56508" rIns="56508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PC • Next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687593" y="244346"/>
            <a:ext cx="3342599" cy="3849147"/>
            <a:chOff x="0" y="0"/>
            <a:chExt cx="4456798" cy="5132196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582625" y="370372"/>
              <a:ext cx="3618601" cy="3618601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5611" y="0"/>
                    </a:moveTo>
                    <a:lnTo>
                      <a:pt x="747189" y="0"/>
                    </a:lnTo>
                    <a:cubicBezTo>
                      <a:pt x="764590" y="0"/>
                      <a:pt x="781279" y="6913"/>
                      <a:pt x="793583" y="19217"/>
                    </a:cubicBezTo>
                    <a:cubicBezTo>
                      <a:pt x="805887" y="31521"/>
                      <a:pt x="812800" y="48210"/>
                      <a:pt x="812800" y="65611"/>
                    </a:cubicBezTo>
                    <a:lnTo>
                      <a:pt x="812800" y="747189"/>
                    </a:lnTo>
                    <a:cubicBezTo>
                      <a:pt x="812800" y="764590"/>
                      <a:pt x="805887" y="781279"/>
                      <a:pt x="793583" y="793583"/>
                    </a:cubicBezTo>
                    <a:cubicBezTo>
                      <a:pt x="781279" y="805887"/>
                      <a:pt x="764590" y="812800"/>
                      <a:pt x="747189" y="812800"/>
                    </a:cubicBezTo>
                    <a:lnTo>
                      <a:pt x="65611" y="812800"/>
                    </a:lnTo>
                    <a:cubicBezTo>
                      <a:pt x="48210" y="812800"/>
                      <a:pt x="31521" y="805887"/>
                      <a:pt x="19217" y="793583"/>
                    </a:cubicBezTo>
                    <a:cubicBezTo>
                      <a:pt x="6913" y="781279"/>
                      <a:pt x="0" y="764590"/>
                      <a:pt x="0" y="747189"/>
                    </a:cubicBezTo>
                    <a:lnTo>
                      <a:pt x="0" y="65611"/>
                    </a:lnTo>
                    <a:cubicBezTo>
                      <a:pt x="0" y="48210"/>
                      <a:pt x="6913" y="31521"/>
                      <a:pt x="19217" y="19217"/>
                    </a:cubicBezTo>
                    <a:cubicBezTo>
                      <a:pt x="31521" y="6913"/>
                      <a:pt x="48210" y="0"/>
                      <a:pt x="65611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1449" t="-12165" r="-33633" b="-32918"/>
                </a:stretch>
              </a:blipFill>
            </p:spPr>
            <p:txBody>
              <a:bodyPr/>
              <a:p/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1165250" cy="1165250"/>
              <a:chOff x="0" y="0"/>
              <a:chExt cx="1165250" cy="116525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96EBFF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01</a:t>
                </a: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582625" y="4268596"/>
              <a:ext cx="3874173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1"/>
                </a:lnSpc>
              </a:pPr>
              <a:r>
                <a:rPr lang="en-US" sz="2551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DATAPATH &amp; ALU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582625" y="4776596"/>
              <a:ext cx="3874173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Shemonty 2407107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52366" y="544697"/>
            <a:ext cx="1924573" cy="1924573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92521" y="0"/>
                  </a:moveTo>
                  <a:lnTo>
                    <a:pt x="720279" y="0"/>
                  </a:lnTo>
                  <a:cubicBezTo>
                    <a:pt x="771377" y="0"/>
                    <a:pt x="812800" y="41423"/>
                    <a:pt x="812800" y="92521"/>
                  </a:cubicBezTo>
                  <a:lnTo>
                    <a:pt x="812800" y="720279"/>
                  </a:lnTo>
                  <a:cubicBezTo>
                    <a:pt x="812800" y="771377"/>
                    <a:pt x="771377" y="812800"/>
                    <a:pt x="720279" y="812800"/>
                  </a:cubicBezTo>
                  <a:lnTo>
                    <a:pt x="92521" y="812800"/>
                  </a:lnTo>
                  <a:cubicBezTo>
                    <a:pt x="41423" y="812800"/>
                    <a:pt x="0" y="771377"/>
                    <a:pt x="0" y="720279"/>
                  </a:cubicBezTo>
                  <a:lnTo>
                    <a:pt x="0" y="92521"/>
                  </a:lnTo>
                  <a:cubicBezTo>
                    <a:pt x="0" y="41423"/>
                    <a:pt x="41423" y="0"/>
                    <a:pt x="92521" y="0"/>
                  </a:cubicBezTo>
                  <a:close/>
                </a:path>
              </a:pathLst>
            </a:custGeom>
            <a:blipFill>
              <a:blip r:embed="rId3"/>
              <a:stretch>
                <a:fillRect l="-38780" t="0" r="-38780" b="0"/>
              </a:stretch>
            </a:blip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762583" y="768107"/>
            <a:ext cx="1504138" cy="1504138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18383" y="0"/>
                  </a:moveTo>
                  <a:lnTo>
                    <a:pt x="694417" y="0"/>
                  </a:lnTo>
                  <a:cubicBezTo>
                    <a:pt x="725814" y="0"/>
                    <a:pt x="755925" y="12472"/>
                    <a:pt x="778126" y="34674"/>
                  </a:cubicBezTo>
                  <a:cubicBezTo>
                    <a:pt x="800328" y="56875"/>
                    <a:pt x="812800" y="86986"/>
                    <a:pt x="812800" y="118383"/>
                  </a:cubicBezTo>
                  <a:lnTo>
                    <a:pt x="812800" y="694417"/>
                  </a:lnTo>
                  <a:cubicBezTo>
                    <a:pt x="812800" y="725814"/>
                    <a:pt x="800328" y="755925"/>
                    <a:pt x="778126" y="778126"/>
                  </a:cubicBezTo>
                  <a:cubicBezTo>
                    <a:pt x="755925" y="800328"/>
                    <a:pt x="725814" y="812800"/>
                    <a:pt x="694417" y="812800"/>
                  </a:cubicBezTo>
                  <a:lnTo>
                    <a:pt x="118383" y="812800"/>
                  </a:lnTo>
                  <a:cubicBezTo>
                    <a:pt x="86986" y="812800"/>
                    <a:pt x="56875" y="800328"/>
                    <a:pt x="34674" y="778126"/>
                  </a:cubicBezTo>
                  <a:cubicBezTo>
                    <a:pt x="12472" y="755925"/>
                    <a:pt x="0" y="725814"/>
                    <a:pt x="0" y="694417"/>
                  </a:cubicBezTo>
                  <a:lnTo>
                    <a:pt x="0" y="118383"/>
                  </a:lnTo>
                  <a:cubicBezTo>
                    <a:pt x="0" y="86986"/>
                    <a:pt x="12472" y="56875"/>
                    <a:pt x="34674" y="34674"/>
                  </a:cubicBezTo>
                  <a:cubicBezTo>
                    <a:pt x="56875" y="12472"/>
                    <a:pt x="86986" y="0"/>
                    <a:pt x="118383" y="0"/>
                  </a:cubicBezTo>
                  <a:close/>
                </a:path>
              </a:pathLst>
            </a:custGeom>
            <a:blipFill>
              <a:blip r:embed="rId4">
                <a:alphaModFix amt="61000"/>
              </a:blip>
              <a:stretch>
                <a:fillRect l="-1156" t="0" r="-1156" b="0"/>
              </a:stretch>
            </a:blipFill>
          </p:spPr>
          <p:txBody>
            <a:bodyPr/>
            <a:p/>
          </p:txBody>
        </p:sp>
      </p:grpSp>
      <p:sp>
        <p:nvSpPr>
          <p:cNvPr name="TextBox 46" id="46"/>
          <p:cNvSpPr txBox="true"/>
          <p:nvPr/>
        </p:nvSpPr>
        <p:spPr>
          <a:xfrm rot="0">
            <a:off x="2769311" y="635395"/>
            <a:ext cx="7848883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Datapath &amp; ALU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851790" y="4751199"/>
            <a:ext cx="3178401" cy="78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748" b="true">
                <a:solidFill>
                  <a:srgbClr val="E0DEFF"/>
                </a:solidFill>
                <a:latin typeface="Aptos Bold"/>
                <a:ea typeface="Aptos Bold"/>
                <a:cs typeface="Aptos Bold"/>
                <a:sym typeface="Aptos Bold"/>
              </a:rPr>
              <a:t>Core idea: registers hold state → ALU transforms it </a:t>
            </a:r>
          </a:p>
          <a:p>
            <a:pPr algn="l">
              <a:lnSpc>
                <a:spcPts val="2098"/>
              </a:lnSpc>
            </a:pPr>
            <a:r>
              <a:rPr lang="en-US" sz="1748" b="true">
                <a:solidFill>
                  <a:srgbClr val="E0DEFF"/>
                </a:solidFill>
                <a:latin typeface="Aptos Bold"/>
                <a:ea typeface="Aptos Bold"/>
                <a:cs typeface="Aptos Bold"/>
                <a:sym typeface="Aptos Bold"/>
              </a:rPr>
              <a:t>→ result is written back.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769311" y="1815045"/>
            <a:ext cx="784888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Designing Architect: Shemonty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5813337" y="9134405"/>
            <a:ext cx="1922567" cy="491824"/>
            <a:chOff x="0" y="0"/>
            <a:chExt cx="2563423" cy="65576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51" id="51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552366" y="544697"/>
            <a:ext cx="1971503" cy="197150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90319" y="0"/>
                  </a:moveTo>
                  <a:lnTo>
                    <a:pt x="722481" y="0"/>
                  </a:lnTo>
                  <a:cubicBezTo>
                    <a:pt x="746435" y="0"/>
                    <a:pt x="769408" y="9516"/>
                    <a:pt x="786346" y="26454"/>
                  </a:cubicBezTo>
                  <a:cubicBezTo>
                    <a:pt x="803284" y="43392"/>
                    <a:pt x="812800" y="66365"/>
                    <a:pt x="812800" y="90319"/>
                  </a:cubicBezTo>
                  <a:lnTo>
                    <a:pt x="812800" y="722481"/>
                  </a:lnTo>
                  <a:cubicBezTo>
                    <a:pt x="812800" y="746435"/>
                    <a:pt x="803284" y="769408"/>
                    <a:pt x="786346" y="786346"/>
                  </a:cubicBezTo>
                  <a:cubicBezTo>
                    <a:pt x="769408" y="803284"/>
                    <a:pt x="746435" y="812800"/>
                    <a:pt x="722481" y="812800"/>
                  </a:cubicBezTo>
                  <a:lnTo>
                    <a:pt x="90319" y="812800"/>
                  </a:lnTo>
                  <a:cubicBezTo>
                    <a:pt x="66365" y="812800"/>
                    <a:pt x="43392" y="803284"/>
                    <a:pt x="26454" y="786346"/>
                  </a:cubicBezTo>
                  <a:cubicBezTo>
                    <a:pt x="9516" y="769408"/>
                    <a:pt x="0" y="746435"/>
                    <a:pt x="0" y="722481"/>
                  </a:cubicBezTo>
                  <a:lnTo>
                    <a:pt x="0" y="90319"/>
                  </a:lnTo>
                  <a:cubicBezTo>
                    <a:pt x="0" y="66365"/>
                    <a:pt x="9516" y="43392"/>
                    <a:pt x="26454" y="26454"/>
                  </a:cubicBezTo>
                  <a:cubicBezTo>
                    <a:pt x="43392" y="9516"/>
                    <a:pt x="66365" y="0"/>
                    <a:pt x="90319" y="0"/>
                  </a:cubicBezTo>
                  <a:close/>
                </a:path>
              </a:pathLst>
            </a:custGeom>
            <a:blipFill>
              <a:blip r:embed="rId2"/>
              <a:stretch>
                <a:fillRect l="-38836" t="0" r="-38836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015203" y="4910778"/>
            <a:ext cx="1864591" cy="1296933"/>
            <a:chOff x="0" y="0"/>
            <a:chExt cx="3607079" cy="25089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07181" cy="2509012"/>
            </a:xfrm>
            <a:custGeom>
              <a:avLst/>
              <a:gdLst/>
              <a:ahLst/>
              <a:cxnLst/>
              <a:rect r="r" b="b" t="t" l="l"/>
              <a:pathLst>
                <a:path h="2509012" w="3607181">
                  <a:moveTo>
                    <a:pt x="0" y="418211"/>
                  </a:moveTo>
                  <a:cubicBezTo>
                    <a:pt x="0" y="187198"/>
                    <a:pt x="187198" y="0"/>
                    <a:pt x="418211" y="0"/>
                  </a:cubicBezTo>
                  <a:lnTo>
                    <a:pt x="3188970" y="0"/>
                  </a:lnTo>
                  <a:cubicBezTo>
                    <a:pt x="3419856" y="0"/>
                    <a:pt x="3607181" y="187198"/>
                    <a:pt x="3607181" y="418211"/>
                  </a:cubicBezTo>
                  <a:lnTo>
                    <a:pt x="3607181" y="2090801"/>
                  </a:lnTo>
                  <a:cubicBezTo>
                    <a:pt x="3607181" y="2321687"/>
                    <a:pt x="3419983" y="2509012"/>
                    <a:pt x="3188970" y="2509012"/>
                  </a:cubicBezTo>
                  <a:lnTo>
                    <a:pt x="418211" y="2509012"/>
                  </a:lnTo>
                  <a:cubicBezTo>
                    <a:pt x="187198" y="2508885"/>
                    <a:pt x="0" y="2321687"/>
                    <a:pt x="0" y="2090801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07079" cy="2508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FETCH</a:t>
              </a:r>
            </a:p>
            <a:p>
              <a:pPr algn="ctr">
                <a:lnSpc>
                  <a:spcPts val="2161"/>
                </a:lnSpc>
              </a:pP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PC → address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Cache read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85823" y="4910778"/>
            <a:ext cx="1864591" cy="1296933"/>
            <a:chOff x="0" y="0"/>
            <a:chExt cx="3607079" cy="25089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07181" cy="2509012"/>
            </a:xfrm>
            <a:custGeom>
              <a:avLst/>
              <a:gdLst/>
              <a:ahLst/>
              <a:cxnLst/>
              <a:rect r="r" b="b" t="t" l="l"/>
              <a:pathLst>
                <a:path h="2509012" w="3607181">
                  <a:moveTo>
                    <a:pt x="0" y="418211"/>
                  </a:moveTo>
                  <a:cubicBezTo>
                    <a:pt x="0" y="187198"/>
                    <a:pt x="187198" y="0"/>
                    <a:pt x="418211" y="0"/>
                  </a:cubicBezTo>
                  <a:lnTo>
                    <a:pt x="3188970" y="0"/>
                  </a:lnTo>
                  <a:cubicBezTo>
                    <a:pt x="3419856" y="0"/>
                    <a:pt x="3607181" y="187198"/>
                    <a:pt x="3607181" y="418211"/>
                  </a:cubicBezTo>
                  <a:lnTo>
                    <a:pt x="3607181" y="2090801"/>
                  </a:lnTo>
                  <a:cubicBezTo>
                    <a:pt x="3607181" y="2321687"/>
                    <a:pt x="3419983" y="2509012"/>
                    <a:pt x="3188970" y="2509012"/>
                  </a:cubicBezTo>
                  <a:lnTo>
                    <a:pt x="418211" y="2509012"/>
                  </a:lnTo>
                  <a:cubicBezTo>
                    <a:pt x="187198" y="2508885"/>
                    <a:pt x="0" y="2321687"/>
                    <a:pt x="0" y="2090801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785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607079" cy="2508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DECODE</a:t>
              </a:r>
            </a:p>
            <a:p>
              <a:pPr algn="ctr">
                <a:lnSpc>
                  <a:spcPts val="2161"/>
                </a:lnSpc>
              </a:pP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IR → opcode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Select registers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556450" y="4910778"/>
            <a:ext cx="1864591" cy="1296933"/>
            <a:chOff x="0" y="0"/>
            <a:chExt cx="3607079" cy="25089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07181" cy="2509012"/>
            </a:xfrm>
            <a:custGeom>
              <a:avLst/>
              <a:gdLst/>
              <a:ahLst/>
              <a:cxnLst/>
              <a:rect r="r" b="b" t="t" l="l"/>
              <a:pathLst>
                <a:path h="2509012" w="3607181">
                  <a:moveTo>
                    <a:pt x="0" y="418211"/>
                  </a:moveTo>
                  <a:cubicBezTo>
                    <a:pt x="0" y="187198"/>
                    <a:pt x="187198" y="0"/>
                    <a:pt x="418211" y="0"/>
                  </a:cubicBezTo>
                  <a:lnTo>
                    <a:pt x="3188970" y="0"/>
                  </a:lnTo>
                  <a:cubicBezTo>
                    <a:pt x="3419856" y="0"/>
                    <a:pt x="3607181" y="187198"/>
                    <a:pt x="3607181" y="418211"/>
                  </a:cubicBezTo>
                  <a:lnTo>
                    <a:pt x="3607181" y="2090801"/>
                  </a:lnTo>
                  <a:cubicBezTo>
                    <a:pt x="3607181" y="2321687"/>
                    <a:pt x="3419983" y="2509012"/>
                    <a:pt x="3188970" y="2509012"/>
                  </a:cubicBezTo>
                  <a:lnTo>
                    <a:pt x="418211" y="2509012"/>
                  </a:lnTo>
                  <a:cubicBezTo>
                    <a:pt x="187198" y="2508885"/>
                    <a:pt x="0" y="2321687"/>
                    <a:pt x="0" y="2090801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DA5C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607079" cy="2508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EXECUTE</a:t>
              </a:r>
            </a:p>
            <a:p>
              <a:pPr algn="ctr">
                <a:lnSpc>
                  <a:spcPts val="2161"/>
                </a:lnSpc>
              </a:pP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ALU / MUL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827071" y="4910778"/>
            <a:ext cx="1864591" cy="1296933"/>
            <a:chOff x="0" y="0"/>
            <a:chExt cx="3607079" cy="25089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07181" cy="2509012"/>
            </a:xfrm>
            <a:custGeom>
              <a:avLst/>
              <a:gdLst/>
              <a:ahLst/>
              <a:cxnLst/>
              <a:rect r="r" b="b" t="t" l="l"/>
              <a:pathLst>
                <a:path h="2509012" w="3607181">
                  <a:moveTo>
                    <a:pt x="0" y="418211"/>
                  </a:moveTo>
                  <a:cubicBezTo>
                    <a:pt x="0" y="187198"/>
                    <a:pt x="187198" y="0"/>
                    <a:pt x="418211" y="0"/>
                  </a:cubicBezTo>
                  <a:lnTo>
                    <a:pt x="3188970" y="0"/>
                  </a:lnTo>
                  <a:cubicBezTo>
                    <a:pt x="3419856" y="0"/>
                    <a:pt x="3607181" y="187198"/>
                    <a:pt x="3607181" y="418211"/>
                  </a:cubicBezTo>
                  <a:lnTo>
                    <a:pt x="3607181" y="2090801"/>
                  </a:lnTo>
                  <a:cubicBezTo>
                    <a:pt x="3607181" y="2321687"/>
                    <a:pt x="3419983" y="2509012"/>
                    <a:pt x="3188970" y="2509012"/>
                  </a:cubicBezTo>
                  <a:lnTo>
                    <a:pt x="418211" y="2509012"/>
                  </a:lnTo>
                  <a:cubicBezTo>
                    <a:pt x="187198" y="2508885"/>
                    <a:pt x="0" y="2321687"/>
                    <a:pt x="0" y="2090801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607079" cy="2508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MEMORY</a:t>
              </a:r>
            </a:p>
            <a:p>
              <a:pPr algn="ctr">
                <a:lnSpc>
                  <a:spcPts val="2161"/>
                </a:lnSpc>
              </a:pP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Cache / RAM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for LOAD/STORE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97691" y="4910778"/>
            <a:ext cx="1864591" cy="1296933"/>
            <a:chOff x="0" y="0"/>
            <a:chExt cx="3607079" cy="25089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07181" cy="2509012"/>
            </a:xfrm>
            <a:custGeom>
              <a:avLst/>
              <a:gdLst/>
              <a:ahLst/>
              <a:cxnLst/>
              <a:rect r="r" b="b" t="t" l="l"/>
              <a:pathLst>
                <a:path h="2509012" w="3607181">
                  <a:moveTo>
                    <a:pt x="0" y="418211"/>
                  </a:moveTo>
                  <a:cubicBezTo>
                    <a:pt x="0" y="187198"/>
                    <a:pt x="187198" y="0"/>
                    <a:pt x="418211" y="0"/>
                  </a:cubicBezTo>
                  <a:lnTo>
                    <a:pt x="3188970" y="0"/>
                  </a:lnTo>
                  <a:cubicBezTo>
                    <a:pt x="3419856" y="0"/>
                    <a:pt x="3607181" y="187198"/>
                    <a:pt x="3607181" y="418211"/>
                  </a:cubicBezTo>
                  <a:lnTo>
                    <a:pt x="3607181" y="2090801"/>
                  </a:lnTo>
                  <a:cubicBezTo>
                    <a:pt x="3607181" y="2321687"/>
                    <a:pt x="3419983" y="2509012"/>
                    <a:pt x="3188970" y="2509012"/>
                  </a:cubicBezTo>
                  <a:lnTo>
                    <a:pt x="418211" y="2509012"/>
                  </a:lnTo>
                  <a:cubicBezTo>
                    <a:pt x="187198" y="2508885"/>
                    <a:pt x="0" y="2321687"/>
                    <a:pt x="0" y="2090801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82BE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607079" cy="2508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WRITEBACK</a:t>
              </a:r>
            </a:p>
            <a:p>
              <a:pPr algn="ctr">
                <a:lnSpc>
                  <a:spcPts val="2161"/>
                </a:lnSpc>
              </a:pP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 → Rd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79226" y="6992177"/>
            <a:ext cx="4655563" cy="890116"/>
            <a:chOff x="0" y="0"/>
            <a:chExt cx="9006256" cy="17219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06332" cy="1721993"/>
            </a:xfrm>
            <a:custGeom>
              <a:avLst/>
              <a:gdLst/>
              <a:ahLst/>
              <a:cxnLst/>
              <a:rect r="r" b="b" t="t" l="l"/>
              <a:pathLst>
                <a:path h="1721993" w="9006332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lnTo>
                    <a:pt x="8719312" y="0"/>
                  </a:lnTo>
                  <a:cubicBezTo>
                    <a:pt x="8877808" y="0"/>
                    <a:pt x="9006332" y="128524"/>
                    <a:pt x="9006332" y="287020"/>
                  </a:cubicBezTo>
                  <a:lnTo>
                    <a:pt x="9006332" y="1434973"/>
                  </a:lnTo>
                  <a:cubicBezTo>
                    <a:pt x="9006332" y="1593469"/>
                    <a:pt x="8877808" y="1721993"/>
                    <a:pt x="8719312" y="1721993"/>
                  </a:cubicBezTo>
                  <a:lnTo>
                    <a:pt x="287020" y="1721993"/>
                  </a:lnTo>
                  <a:cubicBezTo>
                    <a:pt x="128524" y="1721993"/>
                    <a:pt x="0" y="1593469"/>
                    <a:pt x="0" y="1434973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785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9006256" cy="1721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OPCODE → CONTROL SIGNALS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010510" y="288299"/>
            <a:ext cx="3277490" cy="3967892"/>
            <a:chOff x="0" y="0"/>
            <a:chExt cx="4369986" cy="5290523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271012" y="411955"/>
              <a:ext cx="3602525" cy="3602525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9702" y="0"/>
                    </a:moveTo>
                    <a:lnTo>
                      <a:pt x="743098" y="0"/>
                    </a:lnTo>
                    <a:cubicBezTo>
                      <a:pt x="761584" y="0"/>
                      <a:pt x="779313" y="7344"/>
                      <a:pt x="792385" y="20415"/>
                    </a:cubicBezTo>
                    <a:cubicBezTo>
                      <a:pt x="805456" y="33487"/>
                      <a:pt x="812800" y="51216"/>
                      <a:pt x="812800" y="69702"/>
                    </a:cubicBezTo>
                    <a:lnTo>
                      <a:pt x="812800" y="743098"/>
                    </a:lnTo>
                    <a:cubicBezTo>
                      <a:pt x="812800" y="761584"/>
                      <a:pt x="805456" y="779313"/>
                      <a:pt x="792385" y="792385"/>
                    </a:cubicBezTo>
                    <a:cubicBezTo>
                      <a:pt x="779313" y="805456"/>
                      <a:pt x="761584" y="812800"/>
                      <a:pt x="743098" y="812800"/>
                    </a:cubicBezTo>
                    <a:lnTo>
                      <a:pt x="69702" y="812800"/>
                    </a:lnTo>
                    <a:cubicBezTo>
                      <a:pt x="51216" y="812800"/>
                      <a:pt x="33487" y="805456"/>
                      <a:pt x="20415" y="792385"/>
                    </a:cubicBezTo>
                    <a:cubicBezTo>
                      <a:pt x="7344" y="779313"/>
                      <a:pt x="0" y="761584"/>
                      <a:pt x="0" y="743098"/>
                    </a:cubicBezTo>
                    <a:lnTo>
                      <a:pt x="0" y="69702"/>
                    </a:lnTo>
                    <a:cubicBezTo>
                      <a:pt x="0" y="51216"/>
                      <a:pt x="7344" y="33487"/>
                      <a:pt x="20415" y="20415"/>
                    </a:cubicBezTo>
                    <a:cubicBezTo>
                      <a:pt x="33487" y="7344"/>
                      <a:pt x="51216" y="0"/>
                      <a:pt x="69702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38191" t="-9901" r="-41492" b="-69782"/>
                </a:stretch>
              </a:blipFill>
            </p:spPr>
            <p:txBody>
              <a:bodyPr/>
              <a:p/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1232416" cy="1232416"/>
              <a:chOff x="0" y="0"/>
              <a:chExt cx="1165250" cy="116525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785FFF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02</a:t>
                </a: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71012" y="4354821"/>
              <a:ext cx="4097484" cy="537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36"/>
                </a:lnSpc>
              </a:pPr>
              <a:r>
                <a:rPr lang="en-US" sz="2696" b="true">
                  <a:solidFill>
                    <a:srgbClr val="785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CONTROL UNIT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72502" y="4914426"/>
              <a:ext cx="4097484" cy="376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6"/>
                </a:lnSpc>
              </a:pPr>
              <a:r>
                <a:rPr lang="en-US" sz="190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Ratul 2407108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769311" y="635395"/>
            <a:ext cx="7848883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Control Unit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769311" y="1815045"/>
            <a:ext cx="784888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Designing Architect: Ratul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218138" y="4685437"/>
            <a:ext cx="36140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E0DEFF"/>
                </a:solidFill>
                <a:latin typeface="Aptos"/>
                <a:ea typeface="Aptos"/>
                <a:cs typeface="Aptos"/>
                <a:sym typeface="Aptos"/>
              </a:rPr>
              <a:t>A multi-cycle FSM turns an instruction into an ordered sequence of control signals.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5813337" y="9134405"/>
            <a:ext cx="1922567" cy="491824"/>
            <a:chOff x="0" y="0"/>
            <a:chExt cx="2563423" cy="65576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552366" y="544697"/>
            <a:ext cx="1971503" cy="197150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90319" y="0"/>
                  </a:moveTo>
                  <a:lnTo>
                    <a:pt x="722481" y="0"/>
                  </a:lnTo>
                  <a:cubicBezTo>
                    <a:pt x="746435" y="0"/>
                    <a:pt x="769408" y="9516"/>
                    <a:pt x="786346" y="26454"/>
                  </a:cubicBezTo>
                  <a:cubicBezTo>
                    <a:pt x="803284" y="43392"/>
                    <a:pt x="812800" y="66365"/>
                    <a:pt x="812800" y="90319"/>
                  </a:cubicBezTo>
                  <a:lnTo>
                    <a:pt x="812800" y="722481"/>
                  </a:lnTo>
                  <a:cubicBezTo>
                    <a:pt x="812800" y="746435"/>
                    <a:pt x="803284" y="769408"/>
                    <a:pt x="786346" y="786346"/>
                  </a:cubicBezTo>
                  <a:cubicBezTo>
                    <a:pt x="769408" y="803284"/>
                    <a:pt x="746435" y="812800"/>
                    <a:pt x="722481" y="812800"/>
                  </a:cubicBezTo>
                  <a:lnTo>
                    <a:pt x="90319" y="812800"/>
                  </a:lnTo>
                  <a:cubicBezTo>
                    <a:pt x="66365" y="812800"/>
                    <a:pt x="43392" y="803284"/>
                    <a:pt x="26454" y="786346"/>
                  </a:cubicBezTo>
                  <a:cubicBezTo>
                    <a:pt x="9516" y="769408"/>
                    <a:pt x="0" y="746435"/>
                    <a:pt x="0" y="722481"/>
                  </a:cubicBezTo>
                  <a:lnTo>
                    <a:pt x="0" y="90319"/>
                  </a:lnTo>
                  <a:cubicBezTo>
                    <a:pt x="0" y="66365"/>
                    <a:pt x="9516" y="43392"/>
                    <a:pt x="26454" y="26454"/>
                  </a:cubicBezTo>
                  <a:cubicBezTo>
                    <a:pt x="43392" y="9516"/>
                    <a:pt x="66365" y="0"/>
                    <a:pt x="90319" y="0"/>
                  </a:cubicBezTo>
                  <a:close/>
                </a:path>
              </a:pathLst>
            </a:custGeom>
            <a:blipFill>
              <a:blip r:embed="rId2"/>
              <a:stretch>
                <a:fillRect l="-12162" t="0" r="-12162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4688254" y="338189"/>
            <a:ext cx="3311242" cy="3868113"/>
            <a:chOff x="0" y="0"/>
            <a:chExt cx="4414990" cy="515748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540817" y="365222"/>
              <a:ext cx="3641248" cy="364124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5203" y="0"/>
                    </a:moveTo>
                    <a:lnTo>
                      <a:pt x="747597" y="0"/>
                    </a:lnTo>
                    <a:cubicBezTo>
                      <a:pt x="783608" y="0"/>
                      <a:pt x="812800" y="29192"/>
                      <a:pt x="812800" y="65203"/>
                    </a:cubicBezTo>
                    <a:lnTo>
                      <a:pt x="812800" y="747597"/>
                    </a:lnTo>
                    <a:cubicBezTo>
                      <a:pt x="812800" y="783608"/>
                      <a:pt x="783608" y="812800"/>
                      <a:pt x="747597" y="812800"/>
                    </a:cubicBezTo>
                    <a:lnTo>
                      <a:pt x="65203" y="812800"/>
                    </a:lnTo>
                    <a:cubicBezTo>
                      <a:pt x="29192" y="812800"/>
                      <a:pt x="0" y="783608"/>
                      <a:pt x="0" y="747597"/>
                    </a:cubicBezTo>
                    <a:lnTo>
                      <a:pt x="0" y="65203"/>
                    </a:lnTo>
                    <a:cubicBezTo>
                      <a:pt x="0" y="29192"/>
                      <a:pt x="29192" y="0"/>
                      <a:pt x="6520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0" r="0" b="0"/>
                </a:stretch>
              </a:blipFill>
            </p:spPr>
            <p:txBody>
              <a:bodyPr/>
              <a:p/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1165250" cy="1165250"/>
              <a:chOff x="0" y="0"/>
              <a:chExt cx="1165250" cy="11652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FFDA5C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03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40817" y="4272777"/>
              <a:ext cx="3874173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DA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ARITHMETIC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40817" y="4801884"/>
              <a:ext cx="3874173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Mahima 2407106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3645" y="3960650"/>
            <a:ext cx="4048660" cy="838750"/>
            <a:chOff x="0" y="0"/>
            <a:chExt cx="6809981" cy="14108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09867" cy="1410716"/>
            </a:xfrm>
            <a:custGeom>
              <a:avLst/>
              <a:gdLst/>
              <a:ahLst/>
              <a:cxnLst/>
              <a:rect r="r" b="b" t="t" l="l"/>
              <a:pathLst>
                <a:path h="1410716" w="6809867">
                  <a:moveTo>
                    <a:pt x="0" y="235077"/>
                  </a:moveTo>
                  <a:cubicBezTo>
                    <a:pt x="0" y="105283"/>
                    <a:pt x="105283" y="0"/>
                    <a:pt x="235077" y="0"/>
                  </a:cubicBezTo>
                  <a:lnTo>
                    <a:pt x="6574790" y="0"/>
                  </a:lnTo>
                  <a:cubicBezTo>
                    <a:pt x="6704711" y="0"/>
                    <a:pt x="6809867" y="105283"/>
                    <a:pt x="6809867" y="235077"/>
                  </a:cubicBezTo>
                  <a:lnTo>
                    <a:pt x="6809867" y="1175639"/>
                  </a:lnTo>
                  <a:cubicBezTo>
                    <a:pt x="6809867" y="1305560"/>
                    <a:pt x="6704584" y="1410716"/>
                    <a:pt x="6574790" y="1410716"/>
                  </a:cubicBezTo>
                  <a:lnTo>
                    <a:pt x="235077" y="1410716"/>
                  </a:lnTo>
                  <a:cubicBezTo>
                    <a:pt x="105283" y="1410843"/>
                    <a:pt x="0" y="1305560"/>
                    <a:pt x="0" y="1175639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DA5C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809981" cy="1410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 IN: 28-bit × 28-bit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3645" y="5048758"/>
            <a:ext cx="1382800" cy="784342"/>
            <a:chOff x="0" y="0"/>
            <a:chExt cx="2325916" cy="13192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25878" cy="1319276"/>
            </a:xfrm>
            <a:custGeom>
              <a:avLst/>
              <a:gdLst/>
              <a:ahLst/>
              <a:cxnLst/>
              <a:rect r="r" b="b" t="t" l="l"/>
              <a:pathLst>
                <a:path h="1319276" w="2325878">
                  <a:moveTo>
                    <a:pt x="0" y="219837"/>
                  </a:moveTo>
                  <a:cubicBezTo>
                    <a:pt x="0" y="98425"/>
                    <a:pt x="98425" y="0"/>
                    <a:pt x="219837" y="0"/>
                  </a:cubicBezTo>
                  <a:lnTo>
                    <a:pt x="2106041" y="0"/>
                  </a:lnTo>
                  <a:cubicBezTo>
                    <a:pt x="2227453" y="0"/>
                    <a:pt x="2325878" y="98425"/>
                    <a:pt x="2325878" y="219837"/>
                  </a:cubicBezTo>
                  <a:lnTo>
                    <a:pt x="2325878" y="1099439"/>
                  </a:lnTo>
                  <a:cubicBezTo>
                    <a:pt x="2325878" y="1220851"/>
                    <a:pt x="2227453" y="1319276"/>
                    <a:pt x="2106041" y="1319276"/>
                  </a:cubicBezTo>
                  <a:lnTo>
                    <a:pt x="219837" y="1319276"/>
                  </a:lnTo>
                  <a:cubicBezTo>
                    <a:pt x="98425" y="1319276"/>
                    <a:pt x="0" y="1220851"/>
                    <a:pt x="0" y="1099439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325916" cy="1319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92580" y="5048758"/>
            <a:ext cx="1382800" cy="784342"/>
            <a:chOff x="0" y="0"/>
            <a:chExt cx="2325916" cy="13192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25878" cy="1319276"/>
            </a:xfrm>
            <a:custGeom>
              <a:avLst/>
              <a:gdLst/>
              <a:ahLst/>
              <a:cxnLst/>
              <a:rect r="r" b="b" t="t" l="l"/>
              <a:pathLst>
                <a:path h="1319276" w="2325878">
                  <a:moveTo>
                    <a:pt x="0" y="219837"/>
                  </a:moveTo>
                  <a:cubicBezTo>
                    <a:pt x="0" y="98425"/>
                    <a:pt x="98425" y="0"/>
                    <a:pt x="219837" y="0"/>
                  </a:cubicBezTo>
                  <a:lnTo>
                    <a:pt x="2106041" y="0"/>
                  </a:lnTo>
                  <a:cubicBezTo>
                    <a:pt x="2227453" y="0"/>
                    <a:pt x="2325878" y="98425"/>
                    <a:pt x="2325878" y="219837"/>
                  </a:cubicBezTo>
                  <a:lnTo>
                    <a:pt x="2325878" y="1099439"/>
                  </a:lnTo>
                  <a:cubicBezTo>
                    <a:pt x="2325878" y="1220851"/>
                    <a:pt x="2227453" y="1319276"/>
                    <a:pt x="2106041" y="1319276"/>
                  </a:cubicBezTo>
                  <a:lnTo>
                    <a:pt x="219837" y="1319276"/>
                  </a:lnTo>
                  <a:cubicBezTo>
                    <a:pt x="98425" y="1319276"/>
                    <a:pt x="0" y="1220851"/>
                    <a:pt x="0" y="1099439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325916" cy="1319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261530" y="5048758"/>
            <a:ext cx="1110775" cy="784342"/>
            <a:chOff x="0" y="0"/>
            <a:chExt cx="1868360" cy="13192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8297" cy="1319276"/>
            </a:xfrm>
            <a:custGeom>
              <a:avLst/>
              <a:gdLst/>
              <a:ahLst/>
              <a:cxnLst/>
              <a:rect r="r" b="b" t="t" l="l"/>
              <a:pathLst>
                <a:path h="1319276" w="1868297">
                  <a:moveTo>
                    <a:pt x="0" y="219837"/>
                  </a:moveTo>
                  <a:cubicBezTo>
                    <a:pt x="0" y="98425"/>
                    <a:pt x="98425" y="0"/>
                    <a:pt x="219837" y="0"/>
                  </a:cubicBezTo>
                  <a:lnTo>
                    <a:pt x="1648460" y="0"/>
                  </a:lnTo>
                  <a:cubicBezTo>
                    <a:pt x="1769872" y="0"/>
                    <a:pt x="1868297" y="98425"/>
                    <a:pt x="1868297" y="219837"/>
                  </a:cubicBezTo>
                  <a:lnTo>
                    <a:pt x="1868297" y="1099439"/>
                  </a:lnTo>
                  <a:cubicBezTo>
                    <a:pt x="1868297" y="1220851"/>
                    <a:pt x="1769872" y="1319276"/>
                    <a:pt x="1648460" y="1319276"/>
                  </a:cubicBezTo>
                  <a:lnTo>
                    <a:pt x="219837" y="1319276"/>
                  </a:lnTo>
                  <a:cubicBezTo>
                    <a:pt x="98425" y="1319276"/>
                    <a:pt x="0" y="1220851"/>
                    <a:pt x="0" y="1099439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868360" cy="1328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Q−1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23645" y="6136859"/>
            <a:ext cx="4048660" cy="947558"/>
            <a:chOff x="0" y="0"/>
            <a:chExt cx="6809981" cy="15938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09994" cy="1593850"/>
            </a:xfrm>
            <a:custGeom>
              <a:avLst/>
              <a:gdLst/>
              <a:ahLst/>
              <a:cxnLst/>
              <a:rect r="r" b="b" t="t" l="l"/>
              <a:pathLst>
                <a:path h="1593850" w="6809994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6544310" y="0"/>
                  </a:lnTo>
                  <a:cubicBezTo>
                    <a:pt x="6690995" y="0"/>
                    <a:pt x="6809994" y="118872"/>
                    <a:pt x="6809994" y="265684"/>
                  </a:cubicBezTo>
                  <a:lnTo>
                    <a:pt x="6809994" y="1328166"/>
                  </a:lnTo>
                  <a:cubicBezTo>
                    <a:pt x="6809994" y="1474851"/>
                    <a:pt x="6691122" y="1593850"/>
                    <a:pt x="6544310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DA5C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809981" cy="1603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BOOTH FSM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Shift • Add/Sub • Repeat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39281" y="3960650"/>
            <a:ext cx="4048660" cy="838750"/>
            <a:chOff x="0" y="0"/>
            <a:chExt cx="6809981" cy="141080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09867" cy="1410716"/>
            </a:xfrm>
            <a:custGeom>
              <a:avLst/>
              <a:gdLst/>
              <a:ahLst/>
              <a:cxnLst/>
              <a:rect r="r" b="b" t="t" l="l"/>
              <a:pathLst>
                <a:path h="1410716" w="6809867">
                  <a:moveTo>
                    <a:pt x="0" y="235077"/>
                  </a:moveTo>
                  <a:cubicBezTo>
                    <a:pt x="0" y="105283"/>
                    <a:pt x="105283" y="0"/>
                    <a:pt x="235077" y="0"/>
                  </a:cubicBezTo>
                  <a:lnTo>
                    <a:pt x="6574790" y="0"/>
                  </a:lnTo>
                  <a:cubicBezTo>
                    <a:pt x="6704711" y="0"/>
                    <a:pt x="6809867" y="105283"/>
                    <a:pt x="6809867" y="235077"/>
                  </a:cubicBezTo>
                  <a:lnTo>
                    <a:pt x="6809867" y="1175639"/>
                  </a:lnTo>
                  <a:cubicBezTo>
                    <a:pt x="6809867" y="1305560"/>
                    <a:pt x="6704584" y="1410716"/>
                    <a:pt x="6574790" y="1410716"/>
                  </a:cubicBezTo>
                  <a:lnTo>
                    <a:pt x="235077" y="1410716"/>
                  </a:lnTo>
                  <a:cubicBezTo>
                    <a:pt x="105283" y="1410843"/>
                    <a:pt x="0" y="1305560"/>
                    <a:pt x="0" y="1175639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DA5C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809981" cy="1410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28 STEPS: one per clock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53815" y="5048758"/>
            <a:ext cx="1328392" cy="784342"/>
            <a:chOff x="0" y="0"/>
            <a:chExt cx="2234400" cy="13192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34311" cy="1319276"/>
            </a:xfrm>
            <a:custGeom>
              <a:avLst/>
              <a:gdLst/>
              <a:ahLst/>
              <a:cxnLst/>
              <a:rect r="r" b="b" t="t" l="l"/>
              <a:pathLst>
                <a:path h="1319276" w="2234311">
                  <a:moveTo>
                    <a:pt x="0" y="219837"/>
                  </a:moveTo>
                  <a:cubicBezTo>
                    <a:pt x="0" y="98425"/>
                    <a:pt x="98425" y="0"/>
                    <a:pt x="219837" y="0"/>
                  </a:cubicBezTo>
                  <a:lnTo>
                    <a:pt x="2014474" y="0"/>
                  </a:lnTo>
                  <a:cubicBezTo>
                    <a:pt x="2135886" y="0"/>
                    <a:pt x="2234311" y="98425"/>
                    <a:pt x="2234311" y="219837"/>
                  </a:cubicBezTo>
                  <a:lnTo>
                    <a:pt x="2234311" y="1099439"/>
                  </a:lnTo>
                  <a:cubicBezTo>
                    <a:pt x="2234311" y="1220851"/>
                    <a:pt x="2135886" y="1319276"/>
                    <a:pt x="2014474" y="1319276"/>
                  </a:cubicBezTo>
                  <a:lnTo>
                    <a:pt x="219837" y="1319276"/>
                  </a:lnTo>
                  <a:cubicBezTo>
                    <a:pt x="98425" y="1319276"/>
                    <a:pt x="0" y="1220851"/>
                    <a:pt x="0" y="1099439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234400" cy="1319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68358" y="5048758"/>
            <a:ext cx="1219584" cy="784342"/>
            <a:chOff x="0" y="0"/>
            <a:chExt cx="2051380" cy="131928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51304" cy="1319276"/>
            </a:xfrm>
            <a:custGeom>
              <a:avLst/>
              <a:gdLst/>
              <a:ahLst/>
              <a:cxnLst/>
              <a:rect r="r" b="b" t="t" l="l"/>
              <a:pathLst>
                <a:path h="1319276" w="2051304">
                  <a:moveTo>
                    <a:pt x="0" y="219837"/>
                  </a:moveTo>
                  <a:cubicBezTo>
                    <a:pt x="0" y="98425"/>
                    <a:pt x="98425" y="0"/>
                    <a:pt x="219837" y="0"/>
                  </a:cubicBezTo>
                  <a:lnTo>
                    <a:pt x="1831467" y="0"/>
                  </a:lnTo>
                  <a:cubicBezTo>
                    <a:pt x="1952879" y="0"/>
                    <a:pt x="2051304" y="98425"/>
                    <a:pt x="2051304" y="219837"/>
                  </a:cubicBezTo>
                  <a:lnTo>
                    <a:pt x="2051304" y="1099439"/>
                  </a:lnTo>
                  <a:cubicBezTo>
                    <a:pt x="2051304" y="1220851"/>
                    <a:pt x="1952879" y="1319276"/>
                    <a:pt x="1831467" y="1319276"/>
                  </a:cubicBezTo>
                  <a:lnTo>
                    <a:pt x="219837" y="1319276"/>
                  </a:lnTo>
                  <a:cubicBezTo>
                    <a:pt x="98425" y="1319276"/>
                    <a:pt x="0" y="1220851"/>
                    <a:pt x="0" y="1099439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051380" cy="1319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839281" y="6136859"/>
            <a:ext cx="4048660" cy="947558"/>
            <a:chOff x="0" y="0"/>
            <a:chExt cx="6809981" cy="15938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09994" cy="1593850"/>
            </a:xfrm>
            <a:custGeom>
              <a:avLst/>
              <a:gdLst/>
              <a:ahLst/>
              <a:cxnLst/>
              <a:rect r="r" b="b" t="t" l="l"/>
              <a:pathLst>
                <a:path h="1593850" w="6809994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6544310" y="0"/>
                  </a:lnTo>
                  <a:cubicBezTo>
                    <a:pt x="6690995" y="0"/>
                    <a:pt x="6809994" y="118872"/>
                    <a:pt x="6809994" y="265684"/>
                  </a:cubicBezTo>
                  <a:lnTo>
                    <a:pt x="6809994" y="1328166"/>
                  </a:lnTo>
                  <a:cubicBezTo>
                    <a:pt x="6809994" y="1474851"/>
                    <a:pt x="6691122" y="1593850"/>
                    <a:pt x="6544310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DA5C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809981" cy="1603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29-BIT ADDER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+M • −M • 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02272" y="4388845"/>
            <a:ext cx="1600425" cy="947558"/>
            <a:chOff x="0" y="0"/>
            <a:chExt cx="2691968" cy="15938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92019" cy="1593850"/>
            </a:xfrm>
            <a:custGeom>
              <a:avLst/>
              <a:gdLst/>
              <a:ahLst/>
              <a:cxnLst/>
              <a:rect r="r" b="b" t="t" l="l"/>
              <a:pathLst>
                <a:path h="1593850" w="2692019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2426335" y="0"/>
                  </a:lnTo>
                  <a:cubicBezTo>
                    <a:pt x="2573020" y="0"/>
                    <a:pt x="2692019" y="118872"/>
                    <a:pt x="2692019" y="265684"/>
                  </a:cubicBezTo>
                  <a:lnTo>
                    <a:pt x="2692019" y="1328166"/>
                  </a:lnTo>
                  <a:cubicBezTo>
                    <a:pt x="2692019" y="1474851"/>
                    <a:pt x="2573147" y="1593850"/>
                    <a:pt x="2426335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691968" cy="1603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LOW 28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497648" y="4388845"/>
            <a:ext cx="1600425" cy="947558"/>
            <a:chOff x="0" y="0"/>
            <a:chExt cx="2691968" cy="15938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92019" cy="1593850"/>
            </a:xfrm>
            <a:custGeom>
              <a:avLst/>
              <a:gdLst/>
              <a:ahLst/>
              <a:cxnLst/>
              <a:rect r="r" b="b" t="t" l="l"/>
              <a:pathLst>
                <a:path h="1593850" w="2692019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2426335" y="0"/>
                  </a:lnTo>
                  <a:cubicBezTo>
                    <a:pt x="2573020" y="0"/>
                    <a:pt x="2692019" y="118872"/>
                    <a:pt x="2692019" y="265684"/>
                  </a:cubicBezTo>
                  <a:lnTo>
                    <a:pt x="2692019" y="1328166"/>
                  </a:lnTo>
                  <a:cubicBezTo>
                    <a:pt x="2692019" y="1474851"/>
                    <a:pt x="2573147" y="1593850"/>
                    <a:pt x="2426335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691968" cy="1603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MULH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HIGH 28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02272" y="5748971"/>
            <a:ext cx="1600425" cy="947558"/>
            <a:chOff x="0" y="0"/>
            <a:chExt cx="2691968" cy="159382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92019" cy="1593850"/>
            </a:xfrm>
            <a:custGeom>
              <a:avLst/>
              <a:gdLst/>
              <a:ahLst/>
              <a:cxnLst/>
              <a:rect r="r" b="b" t="t" l="l"/>
              <a:pathLst>
                <a:path h="1593850" w="2692019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2426335" y="0"/>
                  </a:lnTo>
                  <a:cubicBezTo>
                    <a:pt x="2573020" y="0"/>
                    <a:pt x="2692019" y="118872"/>
                    <a:pt x="2692019" y="265684"/>
                  </a:cubicBezTo>
                  <a:lnTo>
                    <a:pt x="2692019" y="1328166"/>
                  </a:lnTo>
                  <a:cubicBezTo>
                    <a:pt x="2692019" y="1474851"/>
                    <a:pt x="2573147" y="1593850"/>
                    <a:pt x="2426335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2691968" cy="1603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DONE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FLAG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2769311" y="635395"/>
            <a:ext cx="11659578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Arithmetic Accelerator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769311" y="1815045"/>
            <a:ext cx="784888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Designing Architect: Mahima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984023" y="4471537"/>
            <a:ext cx="3015474" cy="1289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0DEFF"/>
                </a:solidFill>
                <a:latin typeface="Aptos"/>
                <a:ea typeface="Aptos"/>
                <a:cs typeface="Aptos"/>
                <a:sym typeface="Aptos"/>
              </a:rPr>
              <a:t>The 56-bit product is built over 28 clocks with one adder, so the main ALU stays small.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5813337" y="9134405"/>
            <a:ext cx="1922567" cy="491824"/>
            <a:chOff x="0" y="0"/>
            <a:chExt cx="2563423" cy="65576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552366" y="544697"/>
            <a:ext cx="1971503" cy="197150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90319" y="0"/>
                  </a:moveTo>
                  <a:lnTo>
                    <a:pt x="722481" y="0"/>
                  </a:lnTo>
                  <a:cubicBezTo>
                    <a:pt x="746435" y="0"/>
                    <a:pt x="769408" y="9516"/>
                    <a:pt x="786346" y="26454"/>
                  </a:cubicBezTo>
                  <a:cubicBezTo>
                    <a:pt x="803284" y="43392"/>
                    <a:pt x="812800" y="66365"/>
                    <a:pt x="812800" y="90319"/>
                  </a:cubicBezTo>
                  <a:lnTo>
                    <a:pt x="812800" y="722481"/>
                  </a:lnTo>
                  <a:cubicBezTo>
                    <a:pt x="812800" y="746435"/>
                    <a:pt x="803284" y="769408"/>
                    <a:pt x="786346" y="786346"/>
                  </a:cubicBezTo>
                  <a:cubicBezTo>
                    <a:pt x="769408" y="803284"/>
                    <a:pt x="746435" y="812800"/>
                    <a:pt x="722481" y="812800"/>
                  </a:cubicBezTo>
                  <a:lnTo>
                    <a:pt x="90319" y="812800"/>
                  </a:lnTo>
                  <a:cubicBezTo>
                    <a:pt x="66365" y="812800"/>
                    <a:pt x="43392" y="803284"/>
                    <a:pt x="26454" y="786346"/>
                  </a:cubicBezTo>
                  <a:cubicBezTo>
                    <a:pt x="9516" y="769408"/>
                    <a:pt x="0" y="746435"/>
                    <a:pt x="0" y="722481"/>
                  </a:cubicBezTo>
                  <a:lnTo>
                    <a:pt x="0" y="90319"/>
                  </a:lnTo>
                  <a:cubicBezTo>
                    <a:pt x="0" y="66365"/>
                    <a:pt x="9516" y="43392"/>
                    <a:pt x="26454" y="26454"/>
                  </a:cubicBezTo>
                  <a:cubicBezTo>
                    <a:pt x="43392" y="9516"/>
                    <a:pt x="66365" y="0"/>
                    <a:pt x="90319" y="0"/>
                  </a:cubicBezTo>
                  <a:close/>
                </a:path>
              </a:pathLst>
            </a:custGeom>
            <a:blipFill>
              <a:blip r:embed="rId2"/>
              <a:stretch>
                <a:fillRect l="-29298" t="0" r="-78074" b="-16454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4676540" y="338189"/>
            <a:ext cx="3164592" cy="3868113"/>
            <a:chOff x="0" y="0"/>
            <a:chExt cx="4219456" cy="515748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345283" y="189985"/>
              <a:ext cx="3778599" cy="377859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2833" y="0"/>
                    </a:moveTo>
                    <a:lnTo>
                      <a:pt x="749967" y="0"/>
                    </a:lnTo>
                    <a:cubicBezTo>
                      <a:pt x="766632" y="0"/>
                      <a:pt x="782613" y="6620"/>
                      <a:pt x="794397" y="18403"/>
                    </a:cubicBezTo>
                    <a:cubicBezTo>
                      <a:pt x="806180" y="30187"/>
                      <a:pt x="812800" y="46168"/>
                      <a:pt x="812800" y="62833"/>
                    </a:cubicBezTo>
                    <a:lnTo>
                      <a:pt x="812800" y="749967"/>
                    </a:lnTo>
                    <a:cubicBezTo>
                      <a:pt x="812800" y="766632"/>
                      <a:pt x="806180" y="782613"/>
                      <a:pt x="794397" y="794397"/>
                    </a:cubicBezTo>
                    <a:cubicBezTo>
                      <a:pt x="782613" y="806180"/>
                      <a:pt x="766632" y="812800"/>
                      <a:pt x="749967" y="812800"/>
                    </a:cubicBezTo>
                    <a:lnTo>
                      <a:pt x="62833" y="812800"/>
                    </a:lnTo>
                    <a:cubicBezTo>
                      <a:pt x="46168" y="812800"/>
                      <a:pt x="30187" y="806180"/>
                      <a:pt x="18403" y="794397"/>
                    </a:cubicBezTo>
                    <a:cubicBezTo>
                      <a:pt x="6620" y="782613"/>
                      <a:pt x="0" y="766632"/>
                      <a:pt x="0" y="749967"/>
                    </a:cubicBezTo>
                    <a:lnTo>
                      <a:pt x="0" y="62833"/>
                    </a:lnTo>
                    <a:cubicBezTo>
                      <a:pt x="0" y="46168"/>
                      <a:pt x="6620" y="30187"/>
                      <a:pt x="18403" y="18403"/>
                    </a:cubicBezTo>
                    <a:cubicBezTo>
                      <a:pt x="30187" y="6620"/>
                      <a:pt x="46168" y="0"/>
                      <a:pt x="6283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0" r="0" b="0"/>
                </a:stretch>
              </a:blipFill>
            </p:spPr>
            <p:txBody>
              <a:bodyPr/>
              <a:p/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1165250" cy="1165250"/>
              <a:chOff x="0" y="0"/>
              <a:chExt cx="1165250" cy="11652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46E6AA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04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45283" y="4263236"/>
              <a:ext cx="3874173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46E6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MEMORY SYSTEM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45283" y="4801884"/>
              <a:ext cx="3874173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Rup 2407109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769311" y="635395"/>
            <a:ext cx="11659578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Memory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69311" y="1815045"/>
            <a:ext cx="784888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Designing Architect: Rup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84023" y="4479153"/>
            <a:ext cx="3120012" cy="86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9"/>
              </a:lnSpc>
            </a:pPr>
            <a:r>
              <a:rPr lang="en-US" sz="1882">
                <a:solidFill>
                  <a:srgbClr val="E0DEFF"/>
                </a:solidFill>
                <a:latin typeface="Aptos"/>
                <a:ea typeface="Aptos"/>
                <a:cs typeface="Aptos"/>
                <a:sym typeface="Aptos"/>
              </a:rPr>
              <a:t>A 16-line direct-mapped cache sits between the CPU and 4K × 28-bit main memory.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15203" y="4237415"/>
            <a:ext cx="2345425" cy="779003"/>
            <a:chOff x="0" y="0"/>
            <a:chExt cx="4247655" cy="14108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47642" cy="1410716"/>
            </a:xfrm>
            <a:custGeom>
              <a:avLst/>
              <a:gdLst/>
              <a:ahLst/>
              <a:cxnLst/>
              <a:rect r="r" b="b" t="t" l="l"/>
              <a:pathLst>
                <a:path h="1410716" w="4247642">
                  <a:moveTo>
                    <a:pt x="0" y="235077"/>
                  </a:moveTo>
                  <a:cubicBezTo>
                    <a:pt x="0" y="105283"/>
                    <a:pt x="105283" y="0"/>
                    <a:pt x="235077" y="0"/>
                  </a:cubicBezTo>
                  <a:lnTo>
                    <a:pt x="4012565" y="0"/>
                  </a:lnTo>
                  <a:cubicBezTo>
                    <a:pt x="4142486" y="0"/>
                    <a:pt x="4247642" y="105283"/>
                    <a:pt x="4247642" y="235077"/>
                  </a:cubicBezTo>
                  <a:lnTo>
                    <a:pt x="4247642" y="1175639"/>
                  </a:lnTo>
                  <a:cubicBezTo>
                    <a:pt x="4247642" y="1305560"/>
                    <a:pt x="4142359" y="1410716"/>
                    <a:pt x="4012565" y="1410716"/>
                  </a:cubicBezTo>
                  <a:lnTo>
                    <a:pt x="235077" y="1410716"/>
                  </a:lnTo>
                  <a:cubicBezTo>
                    <a:pt x="105283" y="1410843"/>
                    <a:pt x="0" y="1305560"/>
                    <a:pt x="0" y="1175639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785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247655" cy="1410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39576" y="4237415"/>
            <a:ext cx="1385357" cy="779003"/>
            <a:chOff x="0" y="0"/>
            <a:chExt cx="2508936" cy="14108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08885" cy="1410716"/>
            </a:xfrm>
            <a:custGeom>
              <a:avLst/>
              <a:gdLst/>
              <a:ahLst/>
              <a:cxnLst/>
              <a:rect r="r" b="b" t="t" l="l"/>
              <a:pathLst>
                <a:path h="1410716" w="2508885">
                  <a:moveTo>
                    <a:pt x="0" y="235077"/>
                  </a:moveTo>
                  <a:cubicBezTo>
                    <a:pt x="0" y="105283"/>
                    <a:pt x="105283" y="0"/>
                    <a:pt x="235077" y="0"/>
                  </a:cubicBezTo>
                  <a:lnTo>
                    <a:pt x="2273808" y="0"/>
                  </a:lnTo>
                  <a:cubicBezTo>
                    <a:pt x="2403729" y="0"/>
                    <a:pt x="2508885" y="105283"/>
                    <a:pt x="2508885" y="235077"/>
                  </a:cubicBezTo>
                  <a:lnTo>
                    <a:pt x="2508885" y="1175639"/>
                  </a:lnTo>
                  <a:cubicBezTo>
                    <a:pt x="2508885" y="1305560"/>
                    <a:pt x="2403602" y="1410716"/>
                    <a:pt x="2273808" y="1410716"/>
                  </a:cubicBezTo>
                  <a:lnTo>
                    <a:pt x="235077" y="1410716"/>
                  </a:lnTo>
                  <a:cubicBezTo>
                    <a:pt x="105283" y="1410843"/>
                    <a:pt x="0" y="1305560"/>
                    <a:pt x="0" y="1175639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508936" cy="1410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INDEX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703882" y="4237415"/>
            <a:ext cx="1385357" cy="779003"/>
            <a:chOff x="0" y="0"/>
            <a:chExt cx="2508936" cy="14108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08885" cy="1410716"/>
            </a:xfrm>
            <a:custGeom>
              <a:avLst/>
              <a:gdLst/>
              <a:ahLst/>
              <a:cxnLst/>
              <a:rect r="r" b="b" t="t" l="l"/>
              <a:pathLst>
                <a:path h="1410716" w="2508885">
                  <a:moveTo>
                    <a:pt x="0" y="235077"/>
                  </a:moveTo>
                  <a:cubicBezTo>
                    <a:pt x="0" y="105283"/>
                    <a:pt x="105283" y="0"/>
                    <a:pt x="235077" y="0"/>
                  </a:cubicBezTo>
                  <a:lnTo>
                    <a:pt x="2273808" y="0"/>
                  </a:lnTo>
                  <a:cubicBezTo>
                    <a:pt x="2403729" y="0"/>
                    <a:pt x="2508885" y="105283"/>
                    <a:pt x="2508885" y="235077"/>
                  </a:cubicBezTo>
                  <a:lnTo>
                    <a:pt x="2508885" y="1175639"/>
                  </a:lnTo>
                  <a:cubicBezTo>
                    <a:pt x="2508885" y="1305560"/>
                    <a:pt x="2403602" y="1410716"/>
                    <a:pt x="2273808" y="1410716"/>
                  </a:cubicBezTo>
                  <a:lnTo>
                    <a:pt x="235077" y="1410716"/>
                  </a:lnTo>
                  <a:cubicBezTo>
                    <a:pt x="105283" y="1410843"/>
                    <a:pt x="0" y="1305560"/>
                    <a:pt x="0" y="1175639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DA5C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508936" cy="1410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5203" y="6127235"/>
            <a:ext cx="1486422" cy="445507"/>
            <a:chOff x="0" y="0"/>
            <a:chExt cx="2691968" cy="8068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92019" cy="806831"/>
            </a:xfrm>
            <a:custGeom>
              <a:avLst/>
              <a:gdLst/>
              <a:ahLst/>
              <a:cxnLst/>
              <a:rect r="r" b="b" t="t" l="l"/>
              <a:pathLst>
                <a:path h="806831" w="2692019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557526" y="0"/>
                  </a:lnTo>
                  <a:cubicBezTo>
                    <a:pt x="2631821" y="0"/>
                    <a:pt x="2692019" y="60198"/>
                    <a:pt x="2692019" y="134493"/>
                  </a:cubicBezTo>
                  <a:lnTo>
                    <a:pt x="2692019" y="672338"/>
                  </a:lnTo>
                  <a:cubicBezTo>
                    <a:pt x="2692019" y="746633"/>
                    <a:pt x="2631821" y="806831"/>
                    <a:pt x="2557526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691968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632157" y="6127235"/>
            <a:ext cx="880061" cy="445507"/>
            <a:chOff x="0" y="0"/>
            <a:chExt cx="1593825" cy="8068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93850" cy="806831"/>
            </a:xfrm>
            <a:custGeom>
              <a:avLst/>
              <a:gdLst/>
              <a:ahLst/>
              <a:cxnLst/>
              <a:rect r="r" b="b" t="t" l="l"/>
              <a:pathLst>
                <a:path h="806831" w="1593850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459357" y="0"/>
                  </a:lnTo>
                  <a:cubicBezTo>
                    <a:pt x="1533652" y="0"/>
                    <a:pt x="1593850" y="60198"/>
                    <a:pt x="1593850" y="134493"/>
                  </a:cubicBezTo>
                  <a:lnTo>
                    <a:pt x="1593850" y="672338"/>
                  </a:lnTo>
                  <a:cubicBezTo>
                    <a:pt x="1593850" y="746633"/>
                    <a:pt x="1533652" y="806831"/>
                    <a:pt x="1459357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AFAAD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93825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42757" y="6127235"/>
            <a:ext cx="1082184" cy="445507"/>
            <a:chOff x="0" y="0"/>
            <a:chExt cx="1959877" cy="8068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59864" cy="806831"/>
            </a:xfrm>
            <a:custGeom>
              <a:avLst/>
              <a:gdLst/>
              <a:ahLst/>
              <a:cxnLst/>
              <a:rect r="r" b="b" t="t" l="l"/>
              <a:pathLst>
                <a:path h="806831" w="1959864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825371" y="0"/>
                  </a:lnTo>
                  <a:cubicBezTo>
                    <a:pt x="1899666" y="0"/>
                    <a:pt x="1959864" y="60198"/>
                    <a:pt x="1959864" y="134493"/>
                  </a:cubicBezTo>
                  <a:lnTo>
                    <a:pt x="1959864" y="672338"/>
                  </a:lnTo>
                  <a:cubicBezTo>
                    <a:pt x="1959864" y="746633"/>
                    <a:pt x="1899666" y="806831"/>
                    <a:pt x="1825371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785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959877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55472" y="6127235"/>
            <a:ext cx="2092777" cy="445507"/>
            <a:chOff x="0" y="0"/>
            <a:chExt cx="3790099" cy="8068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90061" cy="806831"/>
            </a:xfrm>
            <a:custGeom>
              <a:avLst/>
              <a:gdLst/>
              <a:ahLst/>
              <a:cxnLst/>
              <a:rect r="r" b="b" t="t" l="l"/>
              <a:pathLst>
                <a:path h="806831" w="3790061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655568" y="0"/>
                  </a:lnTo>
                  <a:cubicBezTo>
                    <a:pt x="3729863" y="0"/>
                    <a:pt x="3790061" y="60198"/>
                    <a:pt x="3790061" y="134493"/>
                  </a:cubicBezTo>
                  <a:lnTo>
                    <a:pt x="3790061" y="672338"/>
                  </a:lnTo>
                  <a:cubicBezTo>
                    <a:pt x="3790061" y="746633"/>
                    <a:pt x="3729863" y="806831"/>
                    <a:pt x="3655568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790099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28-bit DATA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15203" y="6683063"/>
            <a:ext cx="1486422" cy="445507"/>
            <a:chOff x="0" y="0"/>
            <a:chExt cx="2691968" cy="8068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92019" cy="806831"/>
            </a:xfrm>
            <a:custGeom>
              <a:avLst/>
              <a:gdLst/>
              <a:ahLst/>
              <a:cxnLst/>
              <a:rect r="r" b="b" t="t" l="l"/>
              <a:pathLst>
                <a:path h="806831" w="2692019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557526" y="0"/>
                  </a:lnTo>
                  <a:cubicBezTo>
                    <a:pt x="2631821" y="0"/>
                    <a:pt x="2692019" y="60198"/>
                    <a:pt x="2692019" y="134493"/>
                  </a:cubicBezTo>
                  <a:lnTo>
                    <a:pt x="2692019" y="672338"/>
                  </a:lnTo>
                  <a:cubicBezTo>
                    <a:pt x="2692019" y="746633"/>
                    <a:pt x="2631821" y="806831"/>
                    <a:pt x="2557526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691968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632157" y="6683063"/>
            <a:ext cx="880061" cy="445507"/>
            <a:chOff x="0" y="0"/>
            <a:chExt cx="1593825" cy="8068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93850" cy="806831"/>
            </a:xfrm>
            <a:custGeom>
              <a:avLst/>
              <a:gdLst/>
              <a:ahLst/>
              <a:cxnLst/>
              <a:rect r="r" b="b" t="t" l="l"/>
              <a:pathLst>
                <a:path h="806831" w="1593850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459357" y="0"/>
                  </a:lnTo>
                  <a:cubicBezTo>
                    <a:pt x="1533652" y="0"/>
                    <a:pt x="1593850" y="60198"/>
                    <a:pt x="1593850" y="134493"/>
                  </a:cubicBezTo>
                  <a:lnTo>
                    <a:pt x="1593850" y="672338"/>
                  </a:lnTo>
                  <a:cubicBezTo>
                    <a:pt x="1593850" y="746633"/>
                    <a:pt x="1533652" y="806831"/>
                    <a:pt x="1459357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593825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642757" y="6683063"/>
            <a:ext cx="1082184" cy="445507"/>
            <a:chOff x="0" y="0"/>
            <a:chExt cx="1959877" cy="80683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59864" cy="806831"/>
            </a:xfrm>
            <a:custGeom>
              <a:avLst/>
              <a:gdLst/>
              <a:ahLst/>
              <a:cxnLst/>
              <a:rect r="r" b="b" t="t" l="l"/>
              <a:pathLst>
                <a:path h="806831" w="1959864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825371" y="0"/>
                  </a:lnTo>
                  <a:cubicBezTo>
                    <a:pt x="1899666" y="0"/>
                    <a:pt x="1959864" y="60198"/>
                    <a:pt x="1959864" y="134493"/>
                  </a:cubicBezTo>
                  <a:lnTo>
                    <a:pt x="1959864" y="672338"/>
                  </a:lnTo>
                  <a:cubicBezTo>
                    <a:pt x="1959864" y="746633"/>
                    <a:pt x="1899666" y="806831"/>
                    <a:pt x="1825371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785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959877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855472" y="6683063"/>
            <a:ext cx="2092777" cy="445507"/>
            <a:chOff x="0" y="0"/>
            <a:chExt cx="3790099" cy="8068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790061" cy="806831"/>
            </a:xfrm>
            <a:custGeom>
              <a:avLst/>
              <a:gdLst/>
              <a:ahLst/>
              <a:cxnLst/>
              <a:rect r="r" b="b" t="t" l="l"/>
              <a:pathLst>
                <a:path h="806831" w="3790061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655568" y="0"/>
                  </a:lnTo>
                  <a:cubicBezTo>
                    <a:pt x="3729863" y="0"/>
                    <a:pt x="3790061" y="60198"/>
                    <a:pt x="3790061" y="134493"/>
                  </a:cubicBezTo>
                  <a:lnTo>
                    <a:pt x="3790061" y="672338"/>
                  </a:lnTo>
                  <a:cubicBezTo>
                    <a:pt x="3790061" y="746633"/>
                    <a:pt x="3729863" y="806831"/>
                    <a:pt x="3655568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790099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24-bit DATA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15203" y="7238892"/>
            <a:ext cx="1486422" cy="445507"/>
            <a:chOff x="0" y="0"/>
            <a:chExt cx="2691968" cy="8068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92019" cy="806831"/>
            </a:xfrm>
            <a:custGeom>
              <a:avLst/>
              <a:gdLst/>
              <a:ahLst/>
              <a:cxnLst/>
              <a:rect r="r" b="b" t="t" l="l"/>
              <a:pathLst>
                <a:path h="806831" w="2692019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557526" y="0"/>
                  </a:lnTo>
                  <a:cubicBezTo>
                    <a:pt x="2631821" y="0"/>
                    <a:pt x="2692019" y="60198"/>
                    <a:pt x="2692019" y="134493"/>
                  </a:cubicBezTo>
                  <a:lnTo>
                    <a:pt x="2692019" y="672338"/>
                  </a:lnTo>
                  <a:cubicBezTo>
                    <a:pt x="2692019" y="746633"/>
                    <a:pt x="2631821" y="806831"/>
                    <a:pt x="2557526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691968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632157" y="7238892"/>
            <a:ext cx="880061" cy="445507"/>
            <a:chOff x="0" y="0"/>
            <a:chExt cx="1593825" cy="8068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93850" cy="806831"/>
            </a:xfrm>
            <a:custGeom>
              <a:avLst/>
              <a:gdLst/>
              <a:ahLst/>
              <a:cxnLst/>
              <a:rect r="r" b="b" t="t" l="l"/>
              <a:pathLst>
                <a:path h="806831" w="1593850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459357" y="0"/>
                  </a:lnTo>
                  <a:cubicBezTo>
                    <a:pt x="1533652" y="0"/>
                    <a:pt x="1593850" y="60198"/>
                    <a:pt x="1593850" y="134493"/>
                  </a:cubicBezTo>
                  <a:lnTo>
                    <a:pt x="1593850" y="672338"/>
                  </a:lnTo>
                  <a:cubicBezTo>
                    <a:pt x="1593850" y="746633"/>
                    <a:pt x="1533652" y="806831"/>
                    <a:pt x="1459357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AFAAD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593825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642757" y="7238892"/>
            <a:ext cx="1082184" cy="445507"/>
            <a:chOff x="0" y="0"/>
            <a:chExt cx="1959877" cy="80683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59864" cy="806831"/>
            </a:xfrm>
            <a:custGeom>
              <a:avLst/>
              <a:gdLst/>
              <a:ahLst/>
              <a:cxnLst/>
              <a:rect r="r" b="b" t="t" l="l"/>
              <a:pathLst>
                <a:path h="806831" w="1959864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825371" y="0"/>
                  </a:lnTo>
                  <a:cubicBezTo>
                    <a:pt x="1899666" y="0"/>
                    <a:pt x="1959864" y="60198"/>
                    <a:pt x="1959864" y="134493"/>
                  </a:cubicBezTo>
                  <a:lnTo>
                    <a:pt x="1959864" y="672338"/>
                  </a:lnTo>
                  <a:cubicBezTo>
                    <a:pt x="1959864" y="746633"/>
                    <a:pt x="1899666" y="806831"/>
                    <a:pt x="1825371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785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959877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855472" y="7238892"/>
            <a:ext cx="2092777" cy="445507"/>
            <a:chOff x="0" y="0"/>
            <a:chExt cx="3790099" cy="8068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790061" cy="806831"/>
            </a:xfrm>
            <a:custGeom>
              <a:avLst/>
              <a:gdLst/>
              <a:ahLst/>
              <a:cxnLst/>
              <a:rect r="r" b="b" t="t" l="l"/>
              <a:pathLst>
                <a:path h="806831" w="3790061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655568" y="0"/>
                  </a:lnTo>
                  <a:cubicBezTo>
                    <a:pt x="3729863" y="0"/>
                    <a:pt x="3790061" y="60198"/>
                    <a:pt x="3790061" y="134493"/>
                  </a:cubicBezTo>
                  <a:lnTo>
                    <a:pt x="3790061" y="672338"/>
                  </a:lnTo>
                  <a:cubicBezTo>
                    <a:pt x="3790061" y="746633"/>
                    <a:pt x="3729863" y="806831"/>
                    <a:pt x="3655568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3790099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24-bit DATA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15203" y="7794721"/>
            <a:ext cx="1486422" cy="445507"/>
            <a:chOff x="0" y="0"/>
            <a:chExt cx="2691968" cy="8068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692019" cy="806831"/>
            </a:xfrm>
            <a:custGeom>
              <a:avLst/>
              <a:gdLst/>
              <a:ahLst/>
              <a:cxnLst/>
              <a:rect r="r" b="b" t="t" l="l"/>
              <a:pathLst>
                <a:path h="806831" w="2692019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557526" y="0"/>
                  </a:lnTo>
                  <a:cubicBezTo>
                    <a:pt x="2631821" y="0"/>
                    <a:pt x="2692019" y="60198"/>
                    <a:pt x="2692019" y="134493"/>
                  </a:cubicBezTo>
                  <a:lnTo>
                    <a:pt x="2692019" y="672338"/>
                  </a:lnTo>
                  <a:cubicBezTo>
                    <a:pt x="2692019" y="746633"/>
                    <a:pt x="2631821" y="806831"/>
                    <a:pt x="2557526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691968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632157" y="7794721"/>
            <a:ext cx="880061" cy="445507"/>
            <a:chOff x="0" y="0"/>
            <a:chExt cx="1593825" cy="80683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93850" cy="806831"/>
            </a:xfrm>
            <a:custGeom>
              <a:avLst/>
              <a:gdLst/>
              <a:ahLst/>
              <a:cxnLst/>
              <a:rect r="r" b="b" t="t" l="l"/>
              <a:pathLst>
                <a:path h="806831" w="1593850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459357" y="0"/>
                  </a:lnTo>
                  <a:cubicBezTo>
                    <a:pt x="1533652" y="0"/>
                    <a:pt x="1593850" y="60198"/>
                    <a:pt x="1593850" y="134493"/>
                  </a:cubicBezTo>
                  <a:lnTo>
                    <a:pt x="1593850" y="672338"/>
                  </a:lnTo>
                  <a:cubicBezTo>
                    <a:pt x="1593850" y="746633"/>
                    <a:pt x="1533652" y="806831"/>
                    <a:pt x="1459357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AFAAD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1593825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642757" y="7794721"/>
            <a:ext cx="1082184" cy="445507"/>
            <a:chOff x="0" y="0"/>
            <a:chExt cx="1959877" cy="8068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59864" cy="806831"/>
            </a:xfrm>
            <a:custGeom>
              <a:avLst/>
              <a:gdLst/>
              <a:ahLst/>
              <a:cxnLst/>
              <a:rect r="r" b="b" t="t" l="l"/>
              <a:pathLst>
                <a:path h="806831" w="1959864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825371" y="0"/>
                  </a:lnTo>
                  <a:cubicBezTo>
                    <a:pt x="1899666" y="0"/>
                    <a:pt x="1959864" y="60198"/>
                    <a:pt x="1959864" y="134493"/>
                  </a:cubicBezTo>
                  <a:lnTo>
                    <a:pt x="1959864" y="672338"/>
                  </a:lnTo>
                  <a:cubicBezTo>
                    <a:pt x="1959864" y="746633"/>
                    <a:pt x="1899666" y="806831"/>
                    <a:pt x="1825371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785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959877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855472" y="7794721"/>
            <a:ext cx="2092777" cy="445507"/>
            <a:chOff x="0" y="0"/>
            <a:chExt cx="3790099" cy="8068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790061" cy="806831"/>
            </a:xfrm>
            <a:custGeom>
              <a:avLst/>
              <a:gdLst/>
              <a:ahLst/>
              <a:cxnLst/>
              <a:rect r="r" b="b" t="t" l="l"/>
              <a:pathLst>
                <a:path h="806831" w="3790061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655568" y="0"/>
                  </a:lnTo>
                  <a:cubicBezTo>
                    <a:pt x="3729863" y="0"/>
                    <a:pt x="3790061" y="60198"/>
                    <a:pt x="3790061" y="134493"/>
                  </a:cubicBezTo>
                  <a:lnTo>
                    <a:pt x="3790061" y="672338"/>
                  </a:lnTo>
                  <a:cubicBezTo>
                    <a:pt x="3790061" y="746633"/>
                    <a:pt x="3729863" y="806831"/>
                    <a:pt x="3655568" y="806831"/>
                  </a:cubicBezTo>
                  <a:lnTo>
                    <a:pt x="134493" y="806831"/>
                  </a:lnTo>
                  <a:cubicBezTo>
                    <a:pt x="60198" y="806831"/>
                    <a:pt x="0" y="746633"/>
                    <a:pt x="0" y="67233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3790099" cy="806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24-bit DATA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483026" y="5753318"/>
            <a:ext cx="2193835" cy="880061"/>
            <a:chOff x="0" y="0"/>
            <a:chExt cx="3973119" cy="159382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973195" cy="1593850"/>
            </a:xfrm>
            <a:custGeom>
              <a:avLst/>
              <a:gdLst/>
              <a:ahLst/>
              <a:cxnLst/>
              <a:rect r="r" b="b" t="t" l="l"/>
              <a:pathLst>
                <a:path h="1593850" w="3973195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3707511" y="0"/>
                  </a:lnTo>
                  <a:cubicBezTo>
                    <a:pt x="3854196" y="0"/>
                    <a:pt x="3973195" y="118872"/>
                    <a:pt x="3973195" y="265684"/>
                  </a:cubicBezTo>
                  <a:lnTo>
                    <a:pt x="3973195" y="1328166"/>
                  </a:lnTo>
                  <a:cubicBezTo>
                    <a:pt x="3973195" y="1474851"/>
                    <a:pt x="3854323" y="1593850"/>
                    <a:pt x="3707511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3973119" cy="1603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TAG MATCH?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VALID = 1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110580" y="5753318"/>
            <a:ext cx="1284300" cy="880061"/>
            <a:chOff x="0" y="0"/>
            <a:chExt cx="2325916" cy="159382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326005" cy="1593850"/>
            </a:xfrm>
            <a:custGeom>
              <a:avLst/>
              <a:gdLst/>
              <a:ahLst/>
              <a:cxnLst/>
              <a:rect r="r" b="b" t="t" l="l"/>
              <a:pathLst>
                <a:path h="1593850" w="2326005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2060321" y="0"/>
                  </a:lnTo>
                  <a:cubicBezTo>
                    <a:pt x="2207006" y="0"/>
                    <a:pt x="2326005" y="118872"/>
                    <a:pt x="2326005" y="265684"/>
                  </a:cubicBezTo>
                  <a:lnTo>
                    <a:pt x="2326005" y="1328166"/>
                  </a:lnTo>
                  <a:cubicBezTo>
                    <a:pt x="2326005" y="1474851"/>
                    <a:pt x="2207133" y="1593850"/>
                    <a:pt x="2060321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2325916" cy="15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575944" y="5753318"/>
            <a:ext cx="1284300" cy="880061"/>
            <a:chOff x="0" y="0"/>
            <a:chExt cx="2325916" cy="159382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326005" cy="1593850"/>
            </a:xfrm>
            <a:custGeom>
              <a:avLst/>
              <a:gdLst/>
              <a:ahLst/>
              <a:cxnLst/>
              <a:rect r="r" b="b" t="t" l="l"/>
              <a:pathLst>
                <a:path h="1593850" w="2326005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2060321" y="0"/>
                  </a:lnTo>
                  <a:cubicBezTo>
                    <a:pt x="2207006" y="0"/>
                    <a:pt x="2326005" y="118872"/>
                    <a:pt x="2326005" y="265684"/>
                  </a:cubicBezTo>
                  <a:lnTo>
                    <a:pt x="2326005" y="1328166"/>
                  </a:lnTo>
                  <a:cubicBezTo>
                    <a:pt x="2326005" y="1474851"/>
                    <a:pt x="2207133" y="1593850"/>
                    <a:pt x="2060321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82BE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2325916" cy="15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MISS</a:t>
              </a:r>
            </a:p>
          </p:txBody>
        </p:sp>
      </p:grpSp>
      <p:sp>
        <p:nvSpPr>
          <p:cNvPr name="AutoShape 83" id="83"/>
          <p:cNvSpPr/>
          <p:nvPr/>
        </p:nvSpPr>
        <p:spPr>
          <a:xfrm>
            <a:off x="9673912" y="6185766"/>
            <a:ext cx="409294" cy="25263"/>
          </a:xfrm>
          <a:prstGeom prst="line">
            <a:avLst/>
          </a:prstGeom>
          <a:ln cap="rnd" w="9525">
            <a:solidFill>
              <a:srgbClr val="46E6AA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4" id="84"/>
          <p:cNvSpPr/>
          <p:nvPr/>
        </p:nvSpPr>
        <p:spPr>
          <a:xfrm>
            <a:off x="9673916" y="6559691"/>
            <a:ext cx="1874656" cy="25261"/>
          </a:xfrm>
          <a:prstGeom prst="line">
            <a:avLst/>
          </a:prstGeom>
          <a:ln cap="rnd" w="9525">
            <a:solidFill>
              <a:srgbClr val="FF82BE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85" id="85"/>
          <p:cNvGrpSpPr/>
          <p:nvPr/>
        </p:nvGrpSpPr>
        <p:grpSpPr>
          <a:xfrm rot="0">
            <a:off x="7483026" y="7269207"/>
            <a:ext cx="5377217" cy="981119"/>
            <a:chOff x="0" y="0"/>
            <a:chExt cx="9738347" cy="177684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738360" cy="1776857"/>
            </a:xfrm>
            <a:custGeom>
              <a:avLst/>
              <a:gdLst/>
              <a:ahLst/>
              <a:cxnLst/>
              <a:rect r="r" b="b" t="t" l="l"/>
              <a:pathLst>
                <a:path h="1776857" w="9738360">
                  <a:moveTo>
                    <a:pt x="0" y="296164"/>
                  </a:moveTo>
                  <a:cubicBezTo>
                    <a:pt x="0" y="132588"/>
                    <a:pt x="132588" y="0"/>
                    <a:pt x="296164" y="0"/>
                  </a:cubicBezTo>
                  <a:lnTo>
                    <a:pt x="9442196" y="0"/>
                  </a:lnTo>
                  <a:cubicBezTo>
                    <a:pt x="9605772" y="0"/>
                    <a:pt x="9738360" y="132588"/>
                    <a:pt x="9738360" y="296164"/>
                  </a:cubicBezTo>
                  <a:lnTo>
                    <a:pt x="9738360" y="1480693"/>
                  </a:lnTo>
                  <a:cubicBezTo>
                    <a:pt x="9738360" y="1644269"/>
                    <a:pt x="9605772" y="1776857"/>
                    <a:pt x="9442196" y="1776857"/>
                  </a:cubicBezTo>
                  <a:lnTo>
                    <a:pt x="296164" y="1776857"/>
                  </a:lnTo>
                  <a:cubicBezTo>
                    <a:pt x="132588" y="1776857"/>
                    <a:pt x="0" y="1644269"/>
                    <a:pt x="0" y="1480693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9738347" cy="1776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MAIN MEMORY  •  4K × 28-bit</a:t>
              </a:r>
            </a:p>
          </p:txBody>
        </p:sp>
      </p:grpSp>
      <p:sp>
        <p:nvSpPr>
          <p:cNvPr name="AutoShape 88" id="88"/>
          <p:cNvSpPr/>
          <p:nvPr/>
        </p:nvSpPr>
        <p:spPr>
          <a:xfrm flipH="true">
            <a:off x="10209532" y="6660746"/>
            <a:ext cx="176860" cy="581095"/>
          </a:xfrm>
          <a:prstGeom prst="line">
            <a:avLst/>
          </a:prstGeom>
          <a:ln cap="rnd" w="9525">
            <a:solidFill>
              <a:srgbClr val="46E6AA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89" id="89"/>
          <p:cNvGrpSpPr/>
          <p:nvPr/>
        </p:nvGrpSpPr>
        <p:grpSpPr>
          <a:xfrm rot="0">
            <a:off x="15813337" y="9134405"/>
            <a:ext cx="1922567" cy="491824"/>
            <a:chOff x="0" y="0"/>
            <a:chExt cx="2563423" cy="65576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91" id="91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552366" y="544697"/>
            <a:ext cx="1971503" cy="197150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90319" y="0"/>
                  </a:moveTo>
                  <a:lnTo>
                    <a:pt x="722481" y="0"/>
                  </a:lnTo>
                  <a:cubicBezTo>
                    <a:pt x="746435" y="0"/>
                    <a:pt x="769408" y="9516"/>
                    <a:pt x="786346" y="26454"/>
                  </a:cubicBezTo>
                  <a:cubicBezTo>
                    <a:pt x="803284" y="43392"/>
                    <a:pt x="812800" y="66365"/>
                    <a:pt x="812800" y="90319"/>
                  </a:cubicBezTo>
                  <a:lnTo>
                    <a:pt x="812800" y="722481"/>
                  </a:lnTo>
                  <a:cubicBezTo>
                    <a:pt x="812800" y="746435"/>
                    <a:pt x="803284" y="769408"/>
                    <a:pt x="786346" y="786346"/>
                  </a:cubicBezTo>
                  <a:cubicBezTo>
                    <a:pt x="769408" y="803284"/>
                    <a:pt x="746435" y="812800"/>
                    <a:pt x="722481" y="812800"/>
                  </a:cubicBezTo>
                  <a:lnTo>
                    <a:pt x="90319" y="812800"/>
                  </a:lnTo>
                  <a:cubicBezTo>
                    <a:pt x="66365" y="812800"/>
                    <a:pt x="43392" y="803284"/>
                    <a:pt x="26454" y="786346"/>
                  </a:cubicBezTo>
                  <a:cubicBezTo>
                    <a:pt x="9516" y="769408"/>
                    <a:pt x="0" y="746435"/>
                    <a:pt x="0" y="722481"/>
                  </a:cubicBezTo>
                  <a:lnTo>
                    <a:pt x="0" y="90319"/>
                  </a:lnTo>
                  <a:cubicBezTo>
                    <a:pt x="0" y="66365"/>
                    <a:pt x="9516" y="43392"/>
                    <a:pt x="26454" y="26454"/>
                  </a:cubicBezTo>
                  <a:cubicBezTo>
                    <a:pt x="43392" y="9516"/>
                    <a:pt x="66365" y="0"/>
                    <a:pt x="90319" y="0"/>
                  </a:cubicBezTo>
                  <a:close/>
                </a:path>
              </a:pathLst>
            </a:custGeom>
            <a:blipFill>
              <a:blip r:embed="rId2"/>
              <a:stretch>
                <a:fillRect l="-4187" t="0" r="-4187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4676540" y="375824"/>
            <a:ext cx="4023582" cy="4280752"/>
            <a:chOff x="0" y="0"/>
            <a:chExt cx="5364776" cy="570766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389318" y="361042"/>
              <a:ext cx="3637261" cy="363726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5274" y="0"/>
                    </a:moveTo>
                    <a:lnTo>
                      <a:pt x="747526" y="0"/>
                    </a:lnTo>
                    <a:cubicBezTo>
                      <a:pt x="764838" y="0"/>
                      <a:pt x="781440" y="6877"/>
                      <a:pt x="793682" y="19118"/>
                    </a:cubicBezTo>
                    <a:cubicBezTo>
                      <a:pt x="805923" y="31360"/>
                      <a:pt x="812800" y="47962"/>
                      <a:pt x="812800" y="65274"/>
                    </a:cubicBezTo>
                    <a:lnTo>
                      <a:pt x="812800" y="747526"/>
                    </a:lnTo>
                    <a:cubicBezTo>
                      <a:pt x="812800" y="764838"/>
                      <a:pt x="805923" y="781440"/>
                      <a:pt x="793682" y="793682"/>
                    </a:cubicBezTo>
                    <a:cubicBezTo>
                      <a:pt x="781440" y="805923"/>
                      <a:pt x="764838" y="812800"/>
                      <a:pt x="747526" y="812800"/>
                    </a:cubicBezTo>
                    <a:lnTo>
                      <a:pt x="65274" y="812800"/>
                    </a:lnTo>
                    <a:cubicBezTo>
                      <a:pt x="47962" y="812800"/>
                      <a:pt x="31360" y="805923"/>
                      <a:pt x="19118" y="793682"/>
                    </a:cubicBezTo>
                    <a:cubicBezTo>
                      <a:pt x="6877" y="781440"/>
                      <a:pt x="0" y="764838"/>
                      <a:pt x="0" y="747526"/>
                    </a:cubicBezTo>
                    <a:lnTo>
                      <a:pt x="0" y="65274"/>
                    </a:lnTo>
                    <a:cubicBezTo>
                      <a:pt x="0" y="47962"/>
                      <a:pt x="6877" y="31360"/>
                      <a:pt x="19118" y="19118"/>
                    </a:cubicBezTo>
                    <a:cubicBezTo>
                      <a:pt x="31360" y="6877"/>
                      <a:pt x="47962" y="0"/>
                      <a:pt x="65274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0" r="0" b="0"/>
                </a:stretch>
              </a:blipFill>
            </p:spPr>
            <p:txBody>
              <a:bodyPr/>
              <a:p/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1165250" cy="1165250"/>
              <a:chOff x="0" y="0"/>
              <a:chExt cx="1165250" cy="11652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FF82BE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05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9318" y="4336069"/>
              <a:ext cx="4975458" cy="1016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82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CACHE &amp; DMA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08711" y="5352069"/>
              <a:ext cx="3874173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Thowai 2407109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2366" y="4282654"/>
            <a:ext cx="3048476" cy="1195368"/>
            <a:chOff x="0" y="0"/>
            <a:chExt cx="4064635" cy="15938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635" cy="1593850"/>
            </a:xfrm>
            <a:custGeom>
              <a:avLst/>
              <a:gdLst/>
              <a:ahLst/>
              <a:cxnLst/>
              <a:rect r="r" b="b" t="t" l="l"/>
              <a:pathLst>
                <a:path h="1593850" w="4064635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3798951" y="0"/>
                  </a:lnTo>
                  <a:cubicBezTo>
                    <a:pt x="3945636" y="0"/>
                    <a:pt x="4064635" y="118872"/>
                    <a:pt x="4064635" y="265684"/>
                  </a:cubicBezTo>
                  <a:lnTo>
                    <a:pt x="4064635" y="1328166"/>
                  </a:lnTo>
                  <a:cubicBezTo>
                    <a:pt x="4064635" y="1474851"/>
                    <a:pt x="3945763" y="1593850"/>
                    <a:pt x="3798951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064635" cy="15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CPU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DMA rd,ra,len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95855" y="4282654"/>
            <a:ext cx="3048476" cy="1195368"/>
            <a:chOff x="0" y="0"/>
            <a:chExt cx="4064635" cy="15938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635" cy="1593850"/>
            </a:xfrm>
            <a:custGeom>
              <a:avLst/>
              <a:gdLst/>
              <a:ahLst/>
              <a:cxnLst/>
              <a:rect r="r" b="b" t="t" l="l"/>
              <a:pathLst>
                <a:path h="1593850" w="4064635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3798951" y="0"/>
                  </a:lnTo>
                  <a:cubicBezTo>
                    <a:pt x="3945636" y="0"/>
                    <a:pt x="4064635" y="118872"/>
                    <a:pt x="4064635" y="265684"/>
                  </a:cubicBezTo>
                  <a:lnTo>
                    <a:pt x="4064635" y="1328166"/>
                  </a:lnTo>
                  <a:cubicBezTo>
                    <a:pt x="4064635" y="1474851"/>
                    <a:pt x="3945763" y="1593850"/>
                    <a:pt x="3798951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82BE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064635" cy="15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DMA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takes the bus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39336" y="4282654"/>
            <a:ext cx="3048476" cy="1195368"/>
            <a:chOff x="0" y="0"/>
            <a:chExt cx="4064635" cy="15938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64635" cy="1593850"/>
            </a:xfrm>
            <a:custGeom>
              <a:avLst/>
              <a:gdLst/>
              <a:ahLst/>
              <a:cxnLst/>
              <a:rect r="r" b="b" t="t" l="l"/>
              <a:pathLst>
                <a:path h="1593850" w="4064635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3798951" y="0"/>
                  </a:lnTo>
                  <a:cubicBezTo>
                    <a:pt x="3945636" y="0"/>
                    <a:pt x="4064635" y="118872"/>
                    <a:pt x="4064635" y="265684"/>
                  </a:cubicBezTo>
                  <a:lnTo>
                    <a:pt x="4064635" y="1328166"/>
                  </a:lnTo>
                  <a:cubicBezTo>
                    <a:pt x="4064635" y="1474851"/>
                    <a:pt x="3945763" y="1593850"/>
                    <a:pt x="3798951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064635" cy="15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RAM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read source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39336" y="7096634"/>
            <a:ext cx="3048476" cy="1195368"/>
            <a:chOff x="0" y="0"/>
            <a:chExt cx="4064635" cy="15938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64635" cy="1593850"/>
            </a:xfrm>
            <a:custGeom>
              <a:avLst/>
              <a:gdLst/>
              <a:ahLst/>
              <a:cxnLst/>
              <a:rect r="r" b="b" t="t" l="l"/>
              <a:pathLst>
                <a:path h="1593850" w="4064635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3798951" y="0"/>
                  </a:lnTo>
                  <a:cubicBezTo>
                    <a:pt x="3945636" y="0"/>
                    <a:pt x="4064635" y="118872"/>
                    <a:pt x="4064635" y="265684"/>
                  </a:cubicBezTo>
                  <a:lnTo>
                    <a:pt x="4064635" y="1328166"/>
                  </a:lnTo>
                  <a:cubicBezTo>
                    <a:pt x="4064635" y="1474851"/>
                    <a:pt x="3945763" y="1593850"/>
                    <a:pt x="3798951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4064635" cy="15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RAM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write dest.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395855" y="7096634"/>
            <a:ext cx="3048476" cy="1195368"/>
            <a:chOff x="0" y="0"/>
            <a:chExt cx="4064635" cy="15938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64635" cy="1593850"/>
            </a:xfrm>
            <a:custGeom>
              <a:avLst/>
              <a:gdLst/>
              <a:ahLst/>
              <a:cxnLst/>
              <a:rect r="r" b="b" t="t" l="l"/>
              <a:pathLst>
                <a:path h="1593850" w="4064635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3798951" y="0"/>
                  </a:lnTo>
                  <a:cubicBezTo>
                    <a:pt x="3945636" y="0"/>
                    <a:pt x="4064635" y="118872"/>
                    <a:pt x="4064635" y="265684"/>
                  </a:cubicBezTo>
                  <a:lnTo>
                    <a:pt x="4064635" y="1328166"/>
                  </a:lnTo>
                  <a:cubicBezTo>
                    <a:pt x="4064635" y="1474851"/>
                    <a:pt x="3945763" y="1593850"/>
                    <a:pt x="3798951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82BE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064635" cy="15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CACHE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invalidate line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52366" y="7096634"/>
            <a:ext cx="3048476" cy="1195368"/>
            <a:chOff x="0" y="0"/>
            <a:chExt cx="4064635" cy="15938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64635" cy="1593850"/>
            </a:xfrm>
            <a:custGeom>
              <a:avLst/>
              <a:gdLst/>
              <a:ahLst/>
              <a:cxnLst/>
              <a:rect r="r" b="b" t="t" l="l"/>
              <a:pathLst>
                <a:path h="1593850" w="4064635">
                  <a:moveTo>
                    <a:pt x="0" y="265684"/>
                  </a:moveTo>
                  <a:cubicBezTo>
                    <a:pt x="0" y="118872"/>
                    <a:pt x="118872" y="0"/>
                    <a:pt x="265684" y="0"/>
                  </a:cubicBezTo>
                  <a:lnTo>
                    <a:pt x="3798951" y="0"/>
                  </a:lnTo>
                  <a:cubicBezTo>
                    <a:pt x="3945636" y="0"/>
                    <a:pt x="4064635" y="118872"/>
                    <a:pt x="4064635" y="265684"/>
                  </a:cubicBezTo>
                  <a:lnTo>
                    <a:pt x="4064635" y="1328166"/>
                  </a:lnTo>
                  <a:cubicBezTo>
                    <a:pt x="4064635" y="1474851"/>
                    <a:pt x="3945763" y="1593850"/>
                    <a:pt x="3798951" y="1593850"/>
                  </a:cubicBezTo>
                  <a:lnTo>
                    <a:pt x="265684" y="1593850"/>
                  </a:lnTo>
                  <a:cubicBezTo>
                    <a:pt x="118872" y="1593850"/>
                    <a:pt x="0" y="1474851"/>
                    <a:pt x="0" y="1328166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064635" cy="15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CPU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resumes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24386" y="5478022"/>
            <a:ext cx="1258281" cy="1258281"/>
            <a:chOff x="0" y="0"/>
            <a:chExt cx="1677708" cy="16777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77670" cy="1677670"/>
            </a:xfrm>
            <a:custGeom>
              <a:avLst/>
              <a:gdLst/>
              <a:ahLst/>
              <a:cxnLst/>
              <a:rect r="r" b="b" t="t" l="l"/>
              <a:pathLst>
                <a:path h="1677670" w="1677670">
                  <a:moveTo>
                    <a:pt x="0" y="838835"/>
                  </a:moveTo>
                  <a:cubicBezTo>
                    <a:pt x="0" y="375539"/>
                    <a:pt x="375539" y="0"/>
                    <a:pt x="838835" y="0"/>
                  </a:cubicBezTo>
                  <a:cubicBezTo>
                    <a:pt x="1302131" y="0"/>
                    <a:pt x="1677670" y="375539"/>
                    <a:pt x="1677670" y="838835"/>
                  </a:cubicBezTo>
                  <a:cubicBezTo>
                    <a:pt x="1677670" y="1302131"/>
                    <a:pt x="1302131" y="1677670"/>
                    <a:pt x="838835" y="1677670"/>
                  </a:cubicBezTo>
                  <a:cubicBezTo>
                    <a:pt x="375539" y="1677670"/>
                    <a:pt x="0" y="1302131"/>
                    <a:pt x="0" y="838835"/>
                  </a:cubicBezTo>
                  <a:close/>
                </a:path>
              </a:pathLst>
            </a:custGeom>
            <a:solidFill>
              <a:srgbClr val="FF82BE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1677708" cy="166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500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!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813337" y="9134405"/>
            <a:ext cx="1922567" cy="491824"/>
            <a:chOff x="0" y="0"/>
            <a:chExt cx="2563423" cy="65576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09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769311" y="635395"/>
            <a:ext cx="11659578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DMA CONTROLLER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69311" y="1815045"/>
            <a:ext cx="784888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Designing Architect: Thowai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99942" y="5958377"/>
            <a:ext cx="201339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82BE"/>
                </a:solidFill>
                <a:latin typeface="Aptos Bold"/>
                <a:ea typeface="Aptos Bold"/>
                <a:cs typeface="Aptos Bold"/>
                <a:sym typeface="Aptos Bold"/>
              </a:rPr>
              <a:t>DMA BUSY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730671" y="723002"/>
            <a:ext cx="1614892" cy="1614892"/>
            <a:chOff x="0" y="0"/>
            <a:chExt cx="1677708" cy="16777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77670" cy="1677670"/>
            </a:xfrm>
            <a:custGeom>
              <a:avLst/>
              <a:gdLst/>
              <a:ahLst/>
              <a:cxnLst/>
              <a:rect r="r" b="b" t="t" l="l"/>
              <a:pathLst>
                <a:path h="1677670" w="1677670">
                  <a:moveTo>
                    <a:pt x="0" y="838835"/>
                  </a:moveTo>
                  <a:cubicBezTo>
                    <a:pt x="0" y="375539"/>
                    <a:pt x="375539" y="0"/>
                    <a:pt x="838835" y="0"/>
                  </a:cubicBezTo>
                  <a:cubicBezTo>
                    <a:pt x="1302131" y="0"/>
                    <a:pt x="1677670" y="375539"/>
                    <a:pt x="1677670" y="838835"/>
                  </a:cubicBezTo>
                  <a:cubicBezTo>
                    <a:pt x="1677670" y="1302131"/>
                    <a:pt x="1302131" y="1677670"/>
                    <a:pt x="838835" y="1677670"/>
                  </a:cubicBezTo>
                  <a:cubicBezTo>
                    <a:pt x="375539" y="1677670"/>
                    <a:pt x="0" y="1302131"/>
                    <a:pt x="0" y="838835"/>
                  </a:cubicBezTo>
                  <a:close/>
                </a:path>
              </a:pathLst>
            </a:custGeom>
            <a:solidFill>
              <a:srgbClr val="FFDA5C">
                <a:alpha val="64706"/>
              </a:srgbClr>
            </a:solidFill>
            <a:ln w="22878" cap="sq">
              <a:solidFill>
                <a:srgbClr val="FFFFFF">
                  <a:alpha val="64706"/>
                </a:srgbClr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1677708" cy="166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50046">
                      <a:alpha val="64706"/>
                    </a:srgbClr>
                  </a:solidFill>
                  <a:latin typeface="Aptos Bold"/>
                  <a:ea typeface="Aptos Bold"/>
                  <a:cs typeface="Aptos Bold"/>
                  <a:sym typeface="Aptos Bold"/>
                </a:rPr>
                <a:t>!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983675" y="622240"/>
            <a:ext cx="16014659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Instruction Set  (32 opcodes, 9 shown)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347540"/>
            <a:ext cx="1578569" cy="75495"/>
            <a:chOff x="0" y="0"/>
            <a:chExt cx="2104758" cy="100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4771" cy="100711"/>
            </a:xfrm>
            <a:custGeom>
              <a:avLst/>
              <a:gdLst/>
              <a:ahLst/>
              <a:cxnLst/>
              <a:rect r="r" b="b" t="t" l="l"/>
              <a:pathLst>
                <a:path h="100711" w="2104771">
                  <a:moveTo>
                    <a:pt x="0" y="0"/>
                  </a:moveTo>
                  <a:lnTo>
                    <a:pt x="2104771" y="0"/>
                  </a:lnTo>
                  <a:lnTo>
                    <a:pt x="2104771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6EBFF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1497625" y="1574826"/>
            <a:ext cx="1679644" cy="889869"/>
            <a:chOff x="0" y="0"/>
            <a:chExt cx="1868360" cy="989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68297" cy="989838"/>
            </a:xfrm>
            <a:custGeom>
              <a:avLst/>
              <a:gdLst/>
              <a:ahLst/>
              <a:cxnLst/>
              <a:rect r="r" b="b" t="t" l="l"/>
              <a:pathLst>
                <a:path h="989838" w="1868297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1703324" y="0"/>
                  </a:lnTo>
                  <a:cubicBezTo>
                    <a:pt x="1794383" y="0"/>
                    <a:pt x="1868297" y="73914"/>
                    <a:pt x="1868297" y="164973"/>
                  </a:cubicBezTo>
                  <a:lnTo>
                    <a:pt x="1868297" y="824865"/>
                  </a:lnTo>
                  <a:cubicBezTo>
                    <a:pt x="1868297" y="915924"/>
                    <a:pt x="1794383" y="989838"/>
                    <a:pt x="1703324" y="989838"/>
                  </a:cubicBezTo>
                  <a:lnTo>
                    <a:pt x="164973" y="989838"/>
                  </a:lnTo>
                  <a:cubicBezTo>
                    <a:pt x="73914" y="989838"/>
                    <a:pt x="0" y="915924"/>
                    <a:pt x="0" y="824865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68360" cy="989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Opcode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42994" y="1574826"/>
            <a:ext cx="3736353" cy="889869"/>
            <a:chOff x="0" y="0"/>
            <a:chExt cx="4156151" cy="9898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56202" cy="989838"/>
            </a:xfrm>
            <a:custGeom>
              <a:avLst/>
              <a:gdLst/>
              <a:ahLst/>
              <a:cxnLst/>
              <a:rect r="r" b="b" t="t" l="l"/>
              <a:pathLst>
                <a:path h="989838" w="4156202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3991229" y="0"/>
                  </a:lnTo>
                  <a:cubicBezTo>
                    <a:pt x="4082288" y="0"/>
                    <a:pt x="4156202" y="73914"/>
                    <a:pt x="4156202" y="164973"/>
                  </a:cubicBezTo>
                  <a:lnTo>
                    <a:pt x="4156202" y="824865"/>
                  </a:lnTo>
                  <a:cubicBezTo>
                    <a:pt x="4156202" y="915924"/>
                    <a:pt x="4082288" y="989838"/>
                    <a:pt x="3991229" y="989838"/>
                  </a:cubicBezTo>
                  <a:lnTo>
                    <a:pt x="164973" y="989838"/>
                  </a:lnTo>
                  <a:cubicBezTo>
                    <a:pt x="73914" y="989838"/>
                    <a:pt x="0" y="915924"/>
                    <a:pt x="0" y="824865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156151" cy="989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Instruction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45061" y="1574826"/>
            <a:ext cx="8507904" cy="889869"/>
            <a:chOff x="0" y="0"/>
            <a:chExt cx="9463811" cy="9898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63786" cy="989838"/>
            </a:xfrm>
            <a:custGeom>
              <a:avLst/>
              <a:gdLst/>
              <a:ahLst/>
              <a:cxnLst/>
              <a:rect r="r" b="b" t="t" l="l"/>
              <a:pathLst>
                <a:path h="989838" w="9463786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9298813" y="0"/>
                  </a:lnTo>
                  <a:cubicBezTo>
                    <a:pt x="9389872" y="0"/>
                    <a:pt x="9463786" y="73914"/>
                    <a:pt x="9463786" y="164973"/>
                  </a:cubicBezTo>
                  <a:lnTo>
                    <a:pt x="9463786" y="824865"/>
                  </a:lnTo>
                  <a:cubicBezTo>
                    <a:pt x="9463786" y="915924"/>
                    <a:pt x="9389872" y="989838"/>
                    <a:pt x="9298813" y="989838"/>
                  </a:cubicBezTo>
                  <a:lnTo>
                    <a:pt x="164973" y="989838"/>
                  </a:lnTo>
                  <a:cubicBezTo>
                    <a:pt x="73914" y="989838"/>
                    <a:pt x="0" y="915924"/>
                    <a:pt x="0" y="824865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463811" cy="989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Operation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318690" y="1574826"/>
            <a:ext cx="1679644" cy="889869"/>
            <a:chOff x="0" y="0"/>
            <a:chExt cx="1868360" cy="9898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68297" cy="989838"/>
            </a:xfrm>
            <a:custGeom>
              <a:avLst/>
              <a:gdLst/>
              <a:ahLst/>
              <a:cxnLst/>
              <a:rect r="r" b="b" t="t" l="l"/>
              <a:pathLst>
                <a:path h="989838" w="1868297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1703324" y="0"/>
                  </a:lnTo>
                  <a:cubicBezTo>
                    <a:pt x="1794383" y="0"/>
                    <a:pt x="1868297" y="73914"/>
                    <a:pt x="1868297" y="164973"/>
                  </a:cubicBezTo>
                  <a:lnTo>
                    <a:pt x="1868297" y="824865"/>
                  </a:lnTo>
                  <a:cubicBezTo>
                    <a:pt x="1868297" y="915924"/>
                    <a:pt x="1794383" y="989838"/>
                    <a:pt x="1703324" y="989838"/>
                  </a:cubicBezTo>
                  <a:lnTo>
                    <a:pt x="164973" y="989838"/>
                  </a:lnTo>
                  <a:cubicBezTo>
                    <a:pt x="73914" y="989838"/>
                    <a:pt x="0" y="915924"/>
                    <a:pt x="0" y="824865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868360" cy="989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Type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97625" y="2594943"/>
            <a:ext cx="1679644" cy="692420"/>
            <a:chOff x="0" y="0"/>
            <a:chExt cx="1868360" cy="7702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000010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142994" y="2594943"/>
            <a:ext cx="3736353" cy="692420"/>
            <a:chOff x="0" y="0"/>
            <a:chExt cx="4156151" cy="77021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56202" cy="770255"/>
            </a:xfrm>
            <a:custGeom>
              <a:avLst/>
              <a:gdLst/>
              <a:ahLst/>
              <a:cxnLst/>
              <a:rect r="r" b="b" t="t" l="l"/>
              <a:pathLst>
                <a:path h="770255" w="4156202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4027805" y="0"/>
                  </a:lnTo>
                  <a:cubicBezTo>
                    <a:pt x="4098671" y="0"/>
                    <a:pt x="4156202" y="57531"/>
                    <a:pt x="4156202" y="128397"/>
                  </a:cubicBezTo>
                  <a:lnTo>
                    <a:pt x="4156202" y="641858"/>
                  </a:lnTo>
                  <a:cubicBezTo>
                    <a:pt x="4156202" y="712724"/>
                    <a:pt x="4098671" y="770255"/>
                    <a:pt x="4027805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15615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ADD Rd,Ra,Rb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45061" y="2594943"/>
            <a:ext cx="8507904" cy="692420"/>
            <a:chOff x="0" y="0"/>
            <a:chExt cx="9463811" cy="7702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463786" cy="770255"/>
            </a:xfrm>
            <a:custGeom>
              <a:avLst/>
              <a:gdLst/>
              <a:ahLst/>
              <a:cxnLst/>
              <a:rect r="r" b="b" t="t" l="l"/>
              <a:pathLst>
                <a:path h="770255" w="9463786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9335389" y="0"/>
                  </a:lnTo>
                  <a:cubicBezTo>
                    <a:pt x="9406255" y="0"/>
                    <a:pt x="9463786" y="57531"/>
                    <a:pt x="9463786" y="128397"/>
                  </a:cubicBezTo>
                  <a:lnTo>
                    <a:pt x="9463786" y="641858"/>
                  </a:lnTo>
                  <a:cubicBezTo>
                    <a:pt x="9463786" y="712724"/>
                    <a:pt x="9406255" y="770255"/>
                    <a:pt x="9335389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E0DE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946381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Rd ← Ra + Rb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318690" y="2594943"/>
            <a:ext cx="1679644" cy="692420"/>
            <a:chOff x="0" y="0"/>
            <a:chExt cx="1868360" cy="77021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AFAAD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97625" y="3417634"/>
            <a:ext cx="1679644" cy="692420"/>
            <a:chOff x="0" y="0"/>
            <a:chExt cx="1868360" cy="7702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000011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142994" y="3417634"/>
            <a:ext cx="3736353" cy="692420"/>
            <a:chOff x="0" y="0"/>
            <a:chExt cx="4156151" cy="77021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56202" cy="770255"/>
            </a:xfrm>
            <a:custGeom>
              <a:avLst/>
              <a:gdLst/>
              <a:ahLst/>
              <a:cxnLst/>
              <a:rect r="r" b="b" t="t" l="l"/>
              <a:pathLst>
                <a:path h="770255" w="4156202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4027805" y="0"/>
                  </a:lnTo>
                  <a:cubicBezTo>
                    <a:pt x="4098671" y="0"/>
                    <a:pt x="4156202" y="57531"/>
                    <a:pt x="4156202" y="128397"/>
                  </a:cubicBezTo>
                  <a:lnTo>
                    <a:pt x="4156202" y="641858"/>
                  </a:lnTo>
                  <a:cubicBezTo>
                    <a:pt x="4156202" y="712724"/>
                    <a:pt x="4098671" y="770255"/>
                    <a:pt x="4027805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15615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SUB Rd,Ra,Rb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45061" y="3417634"/>
            <a:ext cx="8507904" cy="692420"/>
            <a:chOff x="0" y="0"/>
            <a:chExt cx="9463811" cy="77021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463786" cy="770255"/>
            </a:xfrm>
            <a:custGeom>
              <a:avLst/>
              <a:gdLst/>
              <a:ahLst/>
              <a:cxnLst/>
              <a:rect r="r" b="b" t="t" l="l"/>
              <a:pathLst>
                <a:path h="770255" w="9463786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9335389" y="0"/>
                  </a:lnTo>
                  <a:cubicBezTo>
                    <a:pt x="9406255" y="0"/>
                    <a:pt x="9463786" y="57531"/>
                    <a:pt x="9463786" y="128397"/>
                  </a:cubicBezTo>
                  <a:lnTo>
                    <a:pt x="9463786" y="641858"/>
                  </a:lnTo>
                  <a:cubicBezTo>
                    <a:pt x="9463786" y="712724"/>
                    <a:pt x="9406255" y="770255"/>
                    <a:pt x="9335389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E0DE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946381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Rd ← Ra − Rb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318690" y="3417634"/>
            <a:ext cx="1679644" cy="692420"/>
            <a:chOff x="0" y="0"/>
            <a:chExt cx="1868360" cy="77021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AFAAD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97625" y="4240312"/>
            <a:ext cx="1679644" cy="692420"/>
            <a:chOff x="0" y="0"/>
            <a:chExt cx="1868360" cy="77021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011011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142994" y="4240312"/>
            <a:ext cx="3736353" cy="692420"/>
            <a:chOff x="0" y="0"/>
            <a:chExt cx="4156151" cy="77021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56202" cy="770255"/>
            </a:xfrm>
            <a:custGeom>
              <a:avLst/>
              <a:gdLst/>
              <a:ahLst/>
              <a:cxnLst/>
              <a:rect r="r" b="b" t="t" l="l"/>
              <a:pathLst>
                <a:path h="770255" w="4156202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4027805" y="0"/>
                  </a:lnTo>
                  <a:cubicBezTo>
                    <a:pt x="4098671" y="0"/>
                    <a:pt x="4156202" y="57531"/>
                    <a:pt x="4156202" y="128397"/>
                  </a:cubicBezTo>
                  <a:lnTo>
                    <a:pt x="4156202" y="641858"/>
                  </a:lnTo>
                  <a:cubicBezTo>
                    <a:pt x="4156202" y="712724"/>
                    <a:pt x="4098671" y="770255"/>
                    <a:pt x="4027805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15615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SHLI Rd,Ra,n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845061" y="4240312"/>
            <a:ext cx="8507904" cy="692420"/>
            <a:chOff x="0" y="0"/>
            <a:chExt cx="9463811" cy="77021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463786" cy="770255"/>
            </a:xfrm>
            <a:custGeom>
              <a:avLst/>
              <a:gdLst/>
              <a:ahLst/>
              <a:cxnLst/>
              <a:rect r="r" b="b" t="t" l="l"/>
              <a:pathLst>
                <a:path h="770255" w="9463786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9335389" y="0"/>
                  </a:lnTo>
                  <a:cubicBezTo>
                    <a:pt x="9406255" y="0"/>
                    <a:pt x="9463786" y="57531"/>
                    <a:pt x="9463786" y="128397"/>
                  </a:cubicBezTo>
                  <a:lnTo>
                    <a:pt x="9463786" y="641858"/>
                  </a:lnTo>
                  <a:cubicBezTo>
                    <a:pt x="9463786" y="712724"/>
                    <a:pt x="9406255" y="770255"/>
                    <a:pt x="9335389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E0DE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946381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Rd ← Ra &lt;&lt; 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318690" y="4240312"/>
            <a:ext cx="1679644" cy="692420"/>
            <a:chOff x="0" y="0"/>
            <a:chExt cx="1868360" cy="77021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AFAAD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I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97625" y="5062991"/>
            <a:ext cx="1679644" cy="692420"/>
            <a:chOff x="0" y="0"/>
            <a:chExt cx="1868360" cy="77021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001101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142994" y="5062991"/>
            <a:ext cx="3736353" cy="692420"/>
            <a:chOff x="0" y="0"/>
            <a:chExt cx="4156151" cy="77021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156202" cy="770255"/>
            </a:xfrm>
            <a:custGeom>
              <a:avLst/>
              <a:gdLst/>
              <a:ahLst/>
              <a:cxnLst/>
              <a:rect r="r" b="b" t="t" l="l"/>
              <a:pathLst>
                <a:path h="770255" w="4156202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4027805" y="0"/>
                  </a:lnTo>
                  <a:cubicBezTo>
                    <a:pt x="4098671" y="0"/>
                    <a:pt x="4156202" y="57531"/>
                    <a:pt x="4156202" y="128397"/>
                  </a:cubicBezTo>
                  <a:lnTo>
                    <a:pt x="4156202" y="641858"/>
                  </a:lnTo>
                  <a:cubicBezTo>
                    <a:pt x="4156202" y="712724"/>
                    <a:pt x="4098671" y="770255"/>
                    <a:pt x="4027805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15615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LDI Rd,imm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845061" y="5062991"/>
            <a:ext cx="8507904" cy="692420"/>
            <a:chOff x="0" y="0"/>
            <a:chExt cx="9463811" cy="77021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463786" cy="770255"/>
            </a:xfrm>
            <a:custGeom>
              <a:avLst/>
              <a:gdLst/>
              <a:ahLst/>
              <a:cxnLst/>
              <a:rect r="r" b="b" t="t" l="l"/>
              <a:pathLst>
                <a:path h="770255" w="9463786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9335389" y="0"/>
                  </a:lnTo>
                  <a:cubicBezTo>
                    <a:pt x="9406255" y="0"/>
                    <a:pt x="9463786" y="57531"/>
                    <a:pt x="9463786" y="128397"/>
                  </a:cubicBezTo>
                  <a:lnTo>
                    <a:pt x="9463786" y="641858"/>
                  </a:lnTo>
                  <a:cubicBezTo>
                    <a:pt x="9463786" y="712724"/>
                    <a:pt x="9406255" y="770255"/>
                    <a:pt x="9335389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E0DE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946381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Rd ← imm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318690" y="5062991"/>
            <a:ext cx="1679644" cy="692420"/>
            <a:chOff x="0" y="0"/>
            <a:chExt cx="1868360" cy="77021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AFAAD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I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97625" y="5885670"/>
            <a:ext cx="1679644" cy="692420"/>
            <a:chOff x="0" y="0"/>
            <a:chExt cx="1868360" cy="77021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010000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142994" y="5885670"/>
            <a:ext cx="3736353" cy="692420"/>
            <a:chOff x="0" y="0"/>
            <a:chExt cx="4156151" cy="77021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156202" cy="770255"/>
            </a:xfrm>
            <a:custGeom>
              <a:avLst/>
              <a:gdLst/>
              <a:ahLst/>
              <a:cxnLst/>
              <a:rect r="r" b="b" t="t" l="l"/>
              <a:pathLst>
                <a:path h="770255" w="4156202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4027805" y="0"/>
                  </a:lnTo>
                  <a:cubicBezTo>
                    <a:pt x="4098671" y="0"/>
                    <a:pt x="4156202" y="57531"/>
                    <a:pt x="4156202" y="128397"/>
                  </a:cubicBezTo>
                  <a:lnTo>
                    <a:pt x="4156202" y="641858"/>
                  </a:lnTo>
                  <a:cubicBezTo>
                    <a:pt x="4156202" y="712724"/>
                    <a:pt x="4098671" y="770255"/>
                    <a:pt x="4027805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415615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LD Rd,[Ra+imm]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845061" y="5885670"/>
            <a:ext cx="8507904" cy="692420"/>
            <a:chOff x="0" y="0"/>
            <a:chExt cx="9463811" cy="77021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463786" cy="770255"/>
            </a:xfrm>
            <a:custGeom>
              <a:avLst/>
              <a:gdLst/>
              <a:ahLst/>
              <a:cxnLst/>
              <a:rect r="r" b="b" t="t" l="l"/>
              <a:pathLst>
                <a:path h="770255" w="9463786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9335389" y="0"/>
                  </a:lnTo>
                  <a:cubicBezTo>
                    <a:pt x="9406255" y="0"/>
                    <a:pt x="9463786" y="57531"/>
                    <a:pt x="9463786" y="128397"/>
                  </a:cubicBezTo>
                  <a:lnTo>
                    <a:pt x="9463786" y="641858"/>
                  </a:lnTo>
                  <a:cubicBezTo>
                    <a:pt x="9463786" y="712724"/>
                    <a:pt x="9406255" y="770255"/>
                    <a:pt x="9335389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E0DE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946381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Rd ← MEM[Ra+imm]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5318690" y="5885670"/>
            <a:ext cx="1679644" cy="692420"/>
            <a:chOff x="0" y="0"/>
            <a:chExt cx="1868360" cy="77021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AFAAD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97625" y="6708361"/>
            <a:ext cx="1679644" cy="692420"/>
            <a:chOff x="0" y="0"/>
            <a:chExt cx="1868360" cy="77021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010001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3142994" y="6708361"/>
            <a:ext cx="3736353" cy="692420"/>
            <a:chOff x="0" y="0"/>
            <a:chExt cx="4156151" cy="77021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156202" cy="770255"/>
            </a:xfrm>
            <a:custGeom>
              <a:avLst/>
              <a:gdLst/>
              <a:ahLst/>
              <a:cxnLst/>
              <a:rect r="r" b="b" t="t" l="l"/>
              <a:pathLst>
                <a:path h="770255" w="4156202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4027805" y="0"/>
                  </a:lnTo>
                  <a:cubicBezTo>
                    <a:pt x="4098671" y="0"/>
                    <a:pt x="4156202" y="57531"/>
                    <a:pt x="4156202" y="128397"/>
                  </a:cubicBezTo>
                  <a:lnTo>
                    <a:pt x="4156202" y="641858"/>
                  </a:lnTo>
                  <a:cubicBezTo>
                    <a:pt x="4156202" y="712724"/>
                    <a:pt x="4098671" y="770255"/>
                    <a:pt x="4027805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415615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ST Rd,[Ra+imm]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845061" y="6708361"/>
            <a:ext cx="8507904" cy="692420"/>
            <a:chOff x="0" y="0"/>
            <a:chExt cx="9463811" cy="77021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463786" cy="770255"/>
            </a:xfrm>
            <a:custGeom>
              <a:avLst/>
              <a:gdLst/>
              <a:ahLst/>
              <a:cxnLst/>
              <a:rect r="r" b="b" t="t" l="l"/>
              <a:pathLst>
                <a:path h="770255" w="9463786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9335389" y="0"/>
                  </a:lnTo>
                  <a:cubicBezTo>
                    <a:pt x="9406255" y="0"/>
                    <a:pt x="9463786" y="57531"/>
                    <a:pt x="9463786" y="128397"/>
                  </a:cubicBezTo>
                  <a:lnTo>
                    <a:pt x="9463786" y="641858"/>
                  </a:lnTo>
                  <a:cubicBezTo>
                    <a:pt x="9463786" y="712724"/>
                    <a:pt x="9406255" y="770255"/>
                    <a:pt x="9335389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E0DE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946381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MEM[Ra+imm] ← Rd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318690" y="6708361"/>
            <a:ext cx="1679644" cy="692420"/>
            <a:chOff x="0" y="0"/>
            <a:chExt cx="1868360" cy="77021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AFAAD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97625" y="7531040"/>
            <a:ext cx="1679644" cy="692420"/>
            <a:chOff x="0" y="0"/>
            <a:chExt cx="1868360" cy="77021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010100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3142994" y="7531040"/>
            <a:ext cx="3736353" cy="692420"/>
            <a:chOff x="0" y="0"/>
            <a:chExt cx="4156151" cy="77021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156202" cy="770255"/>
            </a:xfrm>
            <a:custGeom>
              <a:avLst/>
              <a:gdLst/>
              <a:ahLst/>
              <a:cxnLst/>
              <a:rect r="r" b="b" t="t" l="l"/>
              <a:pathLst>
                <a:path h="770255" w="4156202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4027805" y="0"/>
                  </a:lnTo>
                  <a:cubicBezTo>
                    <a:pt x="4098671" y="0"/>
                    <a:pt x="4156202" y="57531"/>
                    <a:pt x="4156202" y="128397"/>
                  </a:cubicBezTo>
                  <a:lnTo>
                    <a:pt x="4156202" y="641858"/>
                  </a:lnTo>
                  <a:cubicBezTo>
                    <a:pt x="4156202" y="712724"/>
                    <a:pt x="4098671" y="770255"/>
                    <a:pt x="4027805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415615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BNE Rd,Ra,addr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6845061" y="7531040"/>
            <a:ext cx="8507904" cy="692420"/>
            <a:chOff x="0" y="0"/>
            <a:chExt cx="9463811" cy="77021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463786" cy="770255"/>
            </a:xfrm>
            <a:custGeom>
              <a:avLst/>
              <a:gdLst/>
              <a:ahLst/>
              <a:cxnLst/>
              <a:rect r="r" b="b" t="t" l="l"/>
              <a:pathLst>
                <a:path h="770255" w="9463786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9335389" y="0"/>
                  </a:lnTo>
                  <a:cubicBezTo>
                    <a:pt x="9406255" y="0"/>
                    <a:pt x="9463786" y="57531"/>
                    <a:pt x="9463786" y="128397"/>
                  </a:cubicBezTo>
                  <a:lnTo>
                    <a:pt x="9463786" y="641858"/>
                  </a:lnTo>
                  <a:cubicBezTo>
                    <a:pt x="9463786" y="712724"/>
                    <a:pt x="9406255" y="770255"/>
                    <a:pt x="9335389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E0DE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946381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if Rd ≠ Ra: PC ← addr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5318690" y="7531040"/>
            <a:ext cx="1679644" cy="692420"/>
            <a:chOff x="0" y="0"/>
            <a:chExt cx="1868360" cy="77021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AFAAD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B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97625" y="8353719"/>
            <a:ext cx="1679644" cy="692420"/>
            <a:chOff x="0" y="0"/>
            <a:chExt cx="1868360" cy="770217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001010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3142994" y="8353719"/>
            <a:ext cx="3736353" cy="692420"/>
            <a:chOff x="0" y="0"/>
            <a:chExt cx="4156151" cy="77021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156202" cy="770255"/>
            </a:xfrm>
            <a:custGeom>
              <a:avLst/>
              <a:gdLst/>
              <a:ahLst/>
              <a:cxnLst/>
              <a:rect r="r" b="b" t="t" l="l"/>
              <a:pathLst>
                <a:path h="770255" w="4156202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4027805" y="0"/>
                  </a:lnTo>
                  <a:cubicBezTo>
                    <a:pt x="4098671" y="0"/>
                    <a:pt x="4156202" y="57531"/>
                    <a:pt x="4156202" y="128397"/>
                  </a:cubicBezTo>
                  <a:lnTo>
                    <a:pt x="4156202" y="641858"/>
                  </a:lnTo>
                  <a:cubicBezTo>
                    <a:pt x="4156202" y="712724"/>
                    <a:pt x="4098671" y="770255"/>
                    <a:pt x="4027805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415615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MUL Rd,Ra,Rb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6845061" y="8353719"/>
            <a:ext cx="8507904" cy="692420"/>
            <a:chOff x="0" y="0"/>
            <a:chExt cx="9463811" cy="770217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463786" cy="770255"/>
            </a:xfrm>
            <a:custGeom>
              <a:avLst/>
              <a:gdLst/>
              <a:ahLst/>
              <a:cxnLst/>
              <a:rect r="r" b="b" t="t" l="l"/>
              <a:pathLst>
                <a:path h="770255" w="9463786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9335389" y="0"/>
                  </a:lnTo>
                  <a:cubicBezTo>
                    <a:pt x="9406255" y="0"/>
                    <a:pt x="9463786" y="57531"/>
                    <a:pt x="9463786" y="128397"/>
                  </a:cubicBezTo>
                  <a:lnTo>
                    <a:pt x="9463786" y="641858"/>
                  </a:lnTo>
                  <a:cubicBezTo>
                    <a:pt x="9463786" y="712724"/>
                    <a:pt x="9406255" y="770255"/>
                    <a:pt x="9335389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E0DE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946381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Rd ← low28(Ra × Rb)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5318690" y="8353719"/>
            <a:ext cx="1679644" cy="692420"/>
            <a:chOff x="0" y="0"/>
            <a:chExt cx="1868360" cy="770217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AFAAD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A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497625" y="9176409"/>
            <a:ext cx="1679644" cy="692420"/>
            <a:chOff x="0" y="0"/>
            <a:chExt cx="1868360" cy="770217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011010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3142994" y="9176409"/>
            <a:ext cx="3736353" cy="692420"/>
            <a:chOff x="0" y="0"/>
            <a:chExt cx="4156151" cy="770217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156202" cy="770255"/>
            </a:xfrm>
            <a:custGeom>
              <a:avLst/>
              <a:gdLst/>
              <a:ahLst/>
              <a:cxnLst/>
              <a:rect r="r" b="b" t="t" l="l"/>
              <a:pathLst>
                <a:path h="770255" w="4156202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4027805" y="0"/>
                  </a:lnTo>
                  <a:cubicBezTo>
                    <a:pt x="4098671" y="0"/>
                    <a:pt x="4156202" y="57531"/>
                    <a:pt x="4156202" y="128397"/>
                  </a:cubicBezTo>
                  <a:lnTo>
                    <a:pt x="4156202" y="641858"/>
                  </a:lnTo>
                  <a:cubicBezTo>
                    <a:pt x="4156202" y="712724"/>
                    <a:pt x="4098671" y="770255"/>
                    <a:pt x="4027805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0" id="120"/>
            <p:cNvSpPr txBox="true"/>
            <p:nvPr/>
          </p:nvSpPr>
          <p:spPr>
            <a:xfrm>
              <a:off x="0" y="0"/>
              <a:ext cx="415615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DMA Rd,Ra,len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6845061" y="9176409"/>
            <a:ext cx="8507904" cy="692420"/>
            <a:chOff x="0" y="0"/>
            <a:chExt cx="9463811" cy="770217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463786" cy="770255"/>
            </a:xfrm>
            <a:custGeom>
              <a:avLst/>
              <a:gdLst/>
              <a:ahLst/>
              <a:cxnLst/>
              <a:rect r="r" b="b" t="t" l="l"/>
              <a:pathLst>
                <a:path h="770255" w="9463786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9335389" y="0"/>
                  </a:lnTo>
                  <a:cubicBezTo>
                    <a:pt x="9406255" y="0"/>
                    <a:pt x="9463786" y="57531"/>
                    <a:pt x="9463786" y="128397"/>
                  </a:cubicBezTo>
                  <a:lnTo>
                    <a:pt x="9463786" y="641858"/>
                  </a:lnTo>
                  <a:cubicBezTo>
                    <a:pt x="9463786" y="712724"/>
                    <a:pt x="9406255" y="770255"/>
                    <a:pt x="9335389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E0DE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9463811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copy len words Ra → Rd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5318690" y="9176409"/>
            <a:ext cx="1679644" cy="692420"/>
            <a:chOff x="0" y="0"/>
            <a:chExt cx="1868360" cy="770217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868424" cy="770255"/>
            </a:xfrm>
            <a:custGeom>
              <a:avLst/>
              <a:gdLst/>
              <a:ahLst/>
              <a:cxnLst/>
              <a:rect r="r" b="b" t="t" l="l"/>
              <a:pathLst>
                <a:path h="770255" w="1868424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1740027" y="0"/>
                  </a:lnTo>
                  <a:cubicBezTo>
                    <a:pt x="1810893" y="0"/>
                    <a:pt x="1868424" y="57531"/>
                    <a:pt x="1868424" y="128397"/>
                  </a:cubicBezTo>
                  <a:lnTo>
                    <a:pt x="1868424" y="641858"/>
                  </a:lnTo>
                  <a:cubicBezTo>
                    <a:pt x="1868424" y="712724"/>
                    <a:pt x="1810893" y="770255"/>
                    <a:pt x="1740027" y="770255"/>
                  </a:cubicBezTo>
                  <a:lnTo>
                    <a:pt x="128397" y="770255"/>
                  </a:lnTo>
                  <a:cubicBezTo>
                    <a:pt x="57531" y="770255"/>
                    <a:pt x="0" y="712724"/>
                    <a:pt x="0" y="641858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AFAAD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1868360" cy="77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D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5630626" y="530814"/>
            <a:ext cx="1922567" cy="491824"/>
            <a:chOff x="0" y="0"/>
            <a:chExt cx="2563423" cy="65576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129" id="129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338756" y="663426"/>
            <a:ext cx="16014659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How an Instruction Executes? </a:t>
            </a:r>
          </a:p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Let us see an Example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62945" y="2586248"/>
            <a:ext cx="17375950" cy="1729785"/>
            <a:chOff x="0" y="0"/>
            <a:chExt cx="23167933" cy="230638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42820"/>
              <a:ext cx="5068739" cy="1722770"/>
              <a:chOff x="0" y="0"/>
              <a:chExt cx="3881615" cy="131928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81501" cy="1319276"/>
              </a:xfrm>
              <a:custGeom>
                <a:avLst/>
                <a:gdLst/>
                <a:ahLst/>
                <a:cxnLst/>
                <a:rect r="r" b="b" t="t" l="l"/>
                <a:pathLst>
                  <a:path h="1319276" w="3881501">
                    <a:moveTo>
                      <a:pt x="0" y="219837"/>
                    </a:moveTo>
                    <a:cubicBezTo>
                      <a:pt x="0" y="98425"/>
                      <a:pt x="98425" y="0"/>
                      <a:pt x="219837" y="0"/>
                    </a:cubicBezTo>
                    <a:lnTo>
                      <a:pt x="3661664" y="0"/>
                    </a:lnTo>
                    <a:cubicBezTo>
                      <a:pt x="3783076" y="0"/>
                      <a:pt x="3881501" y="98425"/>
                      <a:pt x="3881501" y="219837"/>
                    </a:cubicBezTo>
                    <a:lnTo>
                      <a:pt x="3881501" y="1099439"/>
                    </a:lnTo>
                    <a:cubicBezTo>
                      <a:pt x="3881501" y="1220851"/>
                      <a:pt x="3783076" y="1319276"/>
                      <a:pt x="3661664" y="1319276"/>
                    </a:cubicBezTo>
                    <a:lnTo>
                      <a:pt x="219837" y="1319276"/>
                    </a:lnTo>
                    <a:cubicBezTo>
                      <a:pt x="98425" y="1319276"/>
                      <a:pt x="0" y="1220851"/>
                      <a:pt x="0" y="1099439"/>
                    </a:cubicBezTo>
                    <a:close/>
                  </a:path>
                </a:pathLst>
              </a:custGeom>
              <a:solidFill>
                <a:srgbClr val="050046"/>
              </a:solidFill>
              <a:ln w="28597" cap="sq">
                <a:solidFill>
                  <a:srgbClr val="96EBFF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3881615" cy="13192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02"/>
                  </a:lnSpc>
                </a:pPr>
                <a:r>
                  <a:rPr lang="en-US" sz="225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ADD R1,R2,R3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5860413" y="0"/>
              <a:ext cx="1426015" cy="1426015"/>
              <a:chOff x="0" y="0"/>
              <a:chExt cx="1092035" cy="109203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92073" cy="1092073"/>
              </a:xfrm>
              <a:custGeom>
                <a:avLst/>
                <a:gdLst/>
                <a:ahLst/>
                <a:cxnLst/>
                <a:rect r="r" b="b" t="t" l="l"/>
                <a:pathLst>
                  <a:path h="1092073" w="1092073">
                    <a:moveTo>
                      <a:pt x="0" y="545973"/>
                    </a:moveTo>
                    <a:cubicBezTo>
                      <a:pt x="0" y="244475"/>
                      <a:pt x="244475" y="0"/>
                      <a:pt x="545973" y="0"/>
                    </a:cubicBezTo>
                    <a:cubicBezTo>
                      <a:pt x="847471" y="0"/>
                      <a:pt x="1092073" y="244475"/>
                      <a:pt x="1092073" y="545973"/>
                    </a:cubicBezTo>
                    <a:cubicBezTo>
                      <a:pt x="1092073" y="847471"/>
                      <a:pt x="847598" y="1092073"/>
                      <a:pt x="545973" y="1092073"/>
                    </a:cubicBezTo>
                    <a:cubicBezTo>
                      <a:pt x="244348" y="1092073"/>
                      <a:pt x="0" y="847598"/>
                      <a:pt x="0" y="545973"/>
                    </a:cubicBezTo>
                    <a:close/>
                  </a:path>
                </a:pathLst>
              </a:custGeom>
              <a:solidFill>
                <a:srgbClr val="96EBFF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092035" cy="10920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1"/>
                  </a:lnSpc>
                </a:pPr>
                <a:r>
                  <a:rPr lang="en-US" sz="195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F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442047" y="1748591"/>
              <a:ext cx="2310559" cy="557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9"/>
                </a:lnSpc>
              </a:pPr>
              <a:r>
                <a:rPr lang="en-US" sz="2058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Fetch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7332237" y="683128"/>
              <a:ext cx="3310106" cy="59743"/>
            </a:xfrm>
            <a:prstGeom prst="line">
              <a:avLst/>
            </a:prstGeom>
            <a:ln cap="rnd" w="33168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4" id="14"/>
            <p:cNvGrpSpPr/>
            <p:nvPr/>
          </p:nvGrpSpPr>
          <p:grpSpPr>
            <a:xfrm rot="0">
              <a:off x="10998855" y="0"/>
              <a:ext cx="1426015" cy="1426015"/>
              <a:chOff x="0" y="0"/>
              <a:chExt cx="1092035" cy="109203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92073" cy="1092073"/>
              </a:xfrm>
              <a:custGeom>
                <a:avLst/>
                <a:gdLst/>
                <a:ahLst/>
                <a:cxnLst/>
                <a:rect r="r" b="b" t="t" l="l"/>
                <a:pathLst>
                  <a:path h="1092073" w="1092073">
                    <a:moveTo>
                      <a:pt x="0" y="545973"/>
                    </a:moveTo>
                    <a:cubicBezTo>
                      <a:pt x="0" y="244475"/>
                      <a:pt x="244475" y="0"/>
                      <a:pt x="545973" y="0"/>
                    </a:cubicBezTo>
                    <a:cubicBezTo>
                      <a:pt x="847471" y="0"/>
                      <a:pt x="1092073" y="244475"/>
                      <a:pt x="1092073" y="545973"/>
                    </a:cubicBezTo>
                    <a:cubicBezTo>
                      <a:pt x="1092073" y="847471"/>
                      <a:pt x="847598" y="1092073"/>
                      <a:pt x="545973" y="1092073"/>
                    </a:cubicBezTo>
                    <a:cubicBezTo>
                      <a:pt x="244348" y="1092073"/>
                      <a:pt x="0" y="847598"/>
                      <a:pt x="0" y="545973"/>
                    </a:cubicBezTo>
                    <a:close/>
                  </a:path>
                </a:pathLst>
              </a:custGeom>
              <a:solidFill>
                <a:srgbClr val="785FFF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0"/>
                <a:ext cx="1092035" cy="10920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1"/>
                  </a:lnSpc>
                </a:pPr>
                <a:r>
                  <a:rPr lang="en-US" sz="195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D</a:t>
                </a: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0580489" y="1748591"/>
              <a:ext cx="2310559" cy="557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9"/>
                </a:lnSpc>
              </a:pPr>
              <a:r>
                <a:rPr lang="en-US" sz="2058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Decode</a:t>
              </a:r>
            </a:p>
          </p:txBody>
        </p:sp>
        <p:sp>
          <p:nvSpPr>
            <p:cNvPr name="AutoShape 18" id="18"/>
            <p:cNvSpPr/>
            <p:nvPr/>
          </p:nvSpPr>
          <p:spPr>
            <a:xfrm>
              <a:off x="12470679" y="683128"/>
              <a:ext cx="3310106" cy="59743"/>
            </a:xfrm>
            <a:prstGeom prst="line">
              <a:avLst/>
            </a:prstGeom>
            <a:ln cap="rnd" w="33168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9" id="19"/>
            <p:cNvGrpSpPr/>
            <p:nvPr/>
          </p:nvGrpSpPr>
          <p:grpSpPr>
            <a:xfrm rot="0">
              <a:off x="16137298" y="0"/>
              <a:ext cx="1426015" cy="1426015"/>
              <a:chOff x="0" y="0"/>
              <a:chExt cx="1092035" cy="109203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92073" cy="1092073"/>
              </a:xfrm>
              <a:custGeom>
                <a:avLst/>
                <a:gdLst/>
                <a:ahLst/>
                <a:cxnLst/>
                <a:rect r="r" b="b" t="t" l="l"/>
                <a:pathLst>
                  <a:path h="1092073" w="1092073">
                    <a:moveTo>
                      <a:pt x="0" y="545973"/>
                    </a:moveTo>
                    <a:cubicBezTo>
                      <a:pt x="0" y="244475"/>
                      <a:pt x="244475" y="0"/>
                      <a:pt x="545973" y="0"/>
                    </a:cubicBezTo>
                    <a:cubicBezTo>
                      <a:pt x="847471" y="0"/>
                      <a:pt x="1092073" y="244475"/>
                      <a:pt x="1092073" y="545973"/>
                    </a:cubicBezTo>
                    <a:cubicBezTo>
                      <a:pt x="1092073" y="847471"/>
                      <a:pt x="847598" y="1092073"/>
                      <a:pt x="545973" y="1092073"/>
                    </a:cubicBezTo>
                    <a:cubicBezTo>
                      <a:pt x="244348" y="1092073"/>
                      <a:pt x="0" y="847598"/>
                      <a:pt x="0" y="545973"/>
                    </a:cubicBezTo>
                    <a:close/>
                  </a:path>
                </a:pathLst>
              </a:custGeom>
              <a:solidFill>
                <a:srgbClr val="FFDA5C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1092035" cy="10920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1"/>
                  </a:lnSpc>
                </a:pPr>
                <a:r>
                  <a:rPr lang="en-US" sz="195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E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718915" y="1748591"/>
              <a:ext cx="2310559" cy="557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9"/>
                </a:lnSpc>
              </a:pPr>
              <a:r>
                <a:rPr lang="en-US" sz="2058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ALU ADD</a:t>
              </a:r>
            </a:p>
          </p:txBody>
        </p:sp>
        <p:sp>
          <p:nvSpPr>
            <p:cNvPr name="AutoShape 23" id="23"/>
            <p:cNvSpPr/>
            <p:nvPr/>
          </p:nvSpPr>
          <p:spPr>
            <a:xfrm>
              <a:off x="17609122" y="683127"/>
              <a:ext cx="3310123" cy="59743"/>
            </a:xfrm>
            <a:prstGeom prst="line">
              <a:avLst/>
            </a:prstGeom>
            <a:ln cap="rnd" w="33168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21275740" y="0"/>
              <a:ext cx="1426015" cy="1426015"/>
              <a:chOff x="0" y="0"/>
              <a:chExt cx="1092035" cy="109203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92073" cy="1092073"/>
              </a:xfrm>
              <a:custGeom>
                <a:avLst/>
                <a:gdLst/>
                <a:ahLst/>
                <a:cxnLst/>
                <a:rect r="r" b="b" t="t" l="l"/>
                <a:pathLst>
                  <a:path h="1092073" w="1092073">
                    <a:moveTo>
                      <a:pt x="0" y="545973"/>
                    </a:moveTo>
                    <a:cubicBezTo>
                      <a:pt x="0" y="244475"/>
                      <a:pt x="244475" y="0"/>
                      <a:pt x="545973" y="0"/>
                    </a:cubicBezTo>
                    <a:cubicBezTo>
                      <a:pt x="847471" y="0"/>
                      <a:pt x="1092073" y="244475"/>
                      <a:pt x="1092073" y="545973"/>
                    </a:cubicBezTo>
                    <a:cubicBezTo>
                      <a:pt x="1092073" y="847471"/>
                      <a:pt x="847598" y="1092073"/>
                      <a:pt x="545973" y="1092073"/>
                    </a:cubicBezTo>
                    <a:cubicBezTo>
                      <a:pt x="244348" y="1092073"/>
                      <a:pt x="0" y="847598"/>
                      <a:pt x="0" y="545973"/>
                    </a:cubicBezTo>
                    <a:close/>
                  </a:path>
                </a:pathLst>
              </a:custGeom>
              <a:solidFill>
                <a:srgbClr val="46E6AA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1092035" cy="10920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1"/>
                  </a:lnSpc>
                </a:pPr>
                <a:r>
                  <a:rPr lang="en-US" sz="195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W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0857373" y="1748591"/>
              <a:ext cx="2310559" cy="557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9"/>
                </a:lnSpc>
              </a:pPr>
              <a:r>
                <a:rPr lang="en-US" sz="2058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Write R1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48206" y="5992086"/>
            <a:ext cx="17590689" cy="1570832"/>
            <a:chOff x="0" y="0"/>
            <a:chExt cx="23454251" cy="2094443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40567"/>
              <a:ext cx="4801989" cy="1632107"/>
              <a:chOff x="0" y="0"/>
              <a:chExt cx="3881615" cy="131928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881501" cy="1319276"/>
              </a:xfrm>
              <a:custGeom>
                <a:avLst/>
                <a:gdLst/>
                <a:ahLst/>
                <a:cxnLst/>
                <a:rect r="r" b="b" t="t" l="l"/>
                <a:pathLst>
                  <a:path h="1319276" w="3881501">
                    <a:moveTo>
                      <a:pt x="0" y="219837"/>
                    </a:moveTo>
                    <a:cubicBezTo>
                      <a:pt x="0" y="98425"/>
                      <a:pt x="98425" y="0"/>
                      <a:pt x="219837" y="0"/>
                    </a:cubicBezTo>
                    <a:lnTo>
                      <a:pt x="3661664" y="0"/>
                    </a:lnTo>
                    <a:cubicBezTo>
                      <a:pt x="3783076" y="0"/>
                      <a:pt x="3881501" y="98425"/>
                      <a:pt x="3881501" y="219837"/>
                    </a:cubicBezTo>
                    <a:lnTo>
                      <a:pt x="3881501" y="1099439"/>
                    </a:lnTo>
                    <a:cubicBezTo>
                      <a:pt x="3881501" y="1220851"/>
                      <a:pt x="3783076" y="1319276"/>
                      <a:pt x="3661664" y="1319276"/>
                    </a:cubicBezTo>
                    <a:lnTo>
                      <a:pt x="219837" y="1319276"/>
                    </a:lnTo>
                    <a:cubicBezTo>
                      <a:pt x="98425" y="1319276"/>
                      <a:pt x="0" y="1220851"/>
                      <a:pt x="0" y="1099439"/>
                    </a:cubicBezTo>
                    <a:close/>
                  </a:path>
                </a:pathLst>
              </a:custGeom>
              <a:solidFill>
                <a:srgbClr val="050046"/>
              </a:solidFill>
              <a:ln w="28597" cap="sq">
                <a:solidFill>
                  <a:srgbClr val="FFDA5C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3881615" cy="13192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02"/>
                  </a:lnSpc>
                </a:pPr>
                <a:r>
                  <a:rPr lang="en-US" sz="225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MUL R1,R2,R3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5438784" y="0"/>
              <a:ext cx="1260408" cy="1260408"/>
              <a:chOff x="0" y="0"/>
              <a:chExt cx="1018832" cy="101883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18794" cy="1018794"/>
              </a:xfrm>
              <a:custGeom>
                <a:avLst/>
                <a:gdLst/>
                <a:ahLst/>
                <a:cxnLst/>
                <a:rect r="r" b="b" t="t" l="l"/>
                <a:pathLst>
                  <a:path h="1018794" w="1018794">
                    <a:moveTo>
                      <a:pt x="0" y="509397"/>
                    </a:moveTo>
                    <a:cubicBezTo>
                      <a:pt x="0" y="228092"/>
                      <a:pt x="228092" y="0"/>
                      <a:pt x="509397" y="0"/>
                    </a:cubicBezTo>
                    <a:cubicBezTo>
                      <a:pt x="790702" y="0"/>
                      <a:pt x="1018794" y="228092"/>
                      <a:pt x="1018794" y="509397"/>
                    </a:cubicBezTo>
                    <a:cubicBezTo>
                      <a:pt x="1018794" y="790702"/>
                      <a:pt x="790702" y="1018794"/>
                      <a:pt x="509397" y="1018794"/>
                    </a:cubicBezTo>
                    <a:cubicBezTo>
                      <a:pt x="228092" y="1018794"/>
                      <a:pt x="0" y="790702"/>
                      <a:pt x="0" y="509397"/>
                    </a:cubicBezTo>
                    <a:close/>
                  </a:path>
                </a:pathLst>
              </a:custGeom>
              <a:solidFill>
                <a:srgbClr val="96EBFF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0"/>
                <a:ext cx="1018832" cy="10188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  <a:r>
                  <a:rPr lang="en-US" sz="165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F</a:t>
                </a: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816019" y="1556484"/>
              <a:ext cx="1849331" cy="537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7"/>
                </a:lnSpc>
              </a:pPr>
              <a:r>
                <a:rPr lang="en-US" sz="176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Fetch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8789802" y="0"/>
              <a:ext cx="1260408" cy="1260408"/>
              <a:chOff x="0" y="0"/>
              <a:chExt cx="1018832" cy="101883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18794" cy="1018794"/>
              </a:xfrm>
              <a:custGeom>
                <a:avLst/>
                <a:gdLst/>
                <a:ahLst/>
                <a:cxnLst/>
                <a:rect r="r" b="b" t="t" l="l"/>
                <a:pathLst>
                  <a:path h="1018794" w="1018794">
                    <a:moveTo>
                      <a:pt x="0" y="509397"/>
                    </a:moveTo>
                    <a:cubicBezTo>
                      <a:pt x="0" y="228092"/>
                      <a:pt x="228092" y="0"/>
                      <a:pt x="509397" y="0"/>
                    </a:cubicBezTo>
                    <a:cubicBezTo>
                      <a:pt x="790702" y="0"/>
                      <a:pt x="1018794" y="228092"/>
                      <a:pt x="1018794" y="509397"/>
                    </a:cubicBezTo>
                    <a:cubicBezTo>
                      <a:pt x="1018794" y="790702"/>
                      <a:pt x="790702" y="1018794"/>
                      <a:pt x="509397" y="1018794"/>
                    </a:cubicBezTo>
                    <a:cubicBezTo>
                      <a:pt x="228092" y="1018794"/>
                      <a:pt x="0" y="790702"/>
                      <a:pt x="0" y="509397"/>
                    </a:cubicBezTo>
                    <a:close/>
                  </a:path>
                </a:pathLst>
              </a:custGeom>
              <a:solidFill>
                <a:srgbClr val="785FFF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0"/>
                <a:ext cx="1018832" cy="10188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  <a:r>
                  <a:rPr lang="en-US" sz="165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D</a:t>
                </a: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8167022" y="1556484"/>
              <a:ext cx="1849331" cy="537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7"/>
                </a:lnSpc>
              </a:pPr>
              <a:r>
                <a:rPr lang="en-US" sz="176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Decode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12140804" y="0"/>
              <a:ext cx="1260408" cy="1260408"/>
              <a:chOff x="0" y="0"/>
              <a:chExt cx="1018832" cy="101883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18794" cy="1018794"/>
              </a:xfrm>
              <a:custGeom>
                <a:avLst/>
                <a:gdLst/>
                <a:ahLst/>
                <a:cxnLst/>
                <a:rect r="r" b="b" t="t" l="l"/>
                <a:pathLst>
                  <a:path h="1018794" w="1018794">
                    <a:moveTo>
                      <a:pt x="0" y="509397"/>
                    </a:moveTo>
                    <a:cubicBezTo>
                      <a:pt x="0" y="228092"/>
                      <a:pt x="228092" y="0"/>
                      <a:pt x="509397" y="0"/>
                    </a:cubicBezTo>
                    <a:cubicBezTo>
                      <a:pt x="790702" y="0"/>
                      <a:pt x="1018794" y="228092"/>
                      <a:pt x="1018794" y="509397"/>
                    </a:cubicBezTo>
                    <a:cubicBezTo>
                      <a:pt x="1018794" y="790702"/>
                      <a:pt x="790702" y="1018794"/>
                      <a:pt x="509397" y="1018794"/>
                    </a:cubicBezTo>
                    <a:cubicBezTo>
                      <a:pt x="228092" y="1018794"/>
                      <a:pt x="0" y="790702"/>
                      <a:pt x="0" y="509397"/>
                    </a:cubicBezTo>
                    <a:close/>
                  </a:path>
                </a:pathLst>
              </a:custGeom>
              <a:solidFill>
                <a:srgbClr val="FFDA5C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0"/>
                <a:ext cx="1018832" cy="10188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  <a:r>
                  <a:rPr lang="en-US" sz="165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S</a:t>
                </a: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11518040" y="1556484"/>
              <a:ext cx="1849331" cy="537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7"/>
                </a:lnSpc>
              </a:pPr>
              <a:r>
                <a:rPr lang="en-US" sz="176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Start MUL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15491823" y="0"/>
              <a:ext cx="1260408" cy="1260408"/>
              <a:chOff x="0" y="0"/>
              <a:chExt cx="1018832" cy="101883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018794" cy="1018794"/>
              </a:xfrm>
              <a:custGeom>
                <a:avLst/>
                <a:gdLst/>
                <a:ahLst/>
                <a:cxnLst/>
                <a:rect r="r" b="b" t="t" l="l"/>
                <a:pathLst>
                  <a:path h="1018794" w="1018794">
                    <a:moveTo>
                      <a:pt x="0" y="509397"/>
                    </a:moveTo>
                    <a:cubicBezTo>
                      <a:pt x="0" y="228092"/>
                      <a:pt x="228092" y="0"/>
                      <a:pt x="509397" y="0"/>
                    </a:cubicBezTo>
                    <a:cubicBezTo>
                      <a:pt x="790702" y="0"/>
                      <a:pt x="1018794" y="228092"/>
                      <a:pt x="1018794" y="509397"/>
                    </a:cubicBezTo>
                    <a:cubicBezTo>
                      <a:pt x="1018794" y="790702"/>
                      <a:pt x="790702" y="1018794"/>
                      <a:pt x="509397" y="1018794"/>
                    </a:cubicBezTo>
                    <a:cubicBezTo>
                      <a:pt x="228092" y="1018794"/>
                      <a:pt x="0" y="790702"/>
                      <a:pt x="0" y="509397"/>
                    </a:cubicBezTo>
                    <a:close/>
                  </a:path>
                </a:pathLst>
              </a:custGeom>
              <a:solidFill>
                <a:srgbClr val="FFDA5C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0"/>
                <a:ext cx="1018832" cy="10188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  <a:r>
                  <a:rPr lang="en-US" sz="165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I</a:t>
                </a: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14869058" y="1556484"/>
              <a:ext cx="1849331" cy="537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7"/>
                </a:lnSpc>
              </a:pPr>
              <a:r>
                <a:rPr lang="en-US" sz="176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Iterate</a:t>
              </a:r>
            </a:p>
          </p:txBody>
        </p:sp>
        <p:grpSp>
          <p:nvGrpSpPr>
            <p:cNvPr name="Group 48" id="48"/>
            <p:cNvGrpSpPr/>
            <p:nvPr/>
          </p:nvGrpSpPr>
          <p:grpSpPr>
            <a:xfrm rot="0">
              <a:off x="18842841" y="0"/>
              <a:ext cx="1260408" cy="1260408"/>
              <a:chOff x="0" y="0"/>
              <a:chExt cx="1018832" cy="101883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018794" cy="1018794"/>
              </a:xfrm>
              <a:custGeom>
                <a:avLst/>
                <a:gdLst/>
                <a:ahLst/>
                <a:cxnLst/>
                <a:rect r="r" b="b" t="t" l="l"/>
                <a:pathLst>
                  <a:path h="1018794" w="1018794">
                    <a:moveTo>
                      <a:pt x="0" y="509397"/>
                    </a:moveTo>
                    <a:cubicBezTo>
                      <a:pt x="0" y="228092"/>
                      <a:pt x="228092" y="0"/>
                      <a:pt x="509397" y="0"/>
                    </a:cubicBezTo>
                    <a:cubicBezTo>
                      <a:pt x="790702" y="0"/>
                      <a:pt x="1018794" y="228092"/>
                      <a:pt x="1018794" y="509397"/>
                    </a:cubicBezTo>
                    <a:cubicBezTo>
                      <a:pt x="1018794" y="790702"/>
                      <a:pt x="790702" y="1018794"/>
                      <a:pt x="509397" y="1018794"/>
                    </a:cubicBezTo>
                    <a:cubicBezTo>
                      <a:pt x="228092" y="1018794"/>
                      <a:pt x="0" y="790702"/>
                      <a:pt x="0" y="509397"/>
                    </a:cubicBezTo>
                    <a:close/>
                  </a:path>
                </a:pathLst>
              </a:custGeom>
              <a:solidFill>
                <a:srgbClr val="FFDA5C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1018832" cy="10188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  <a:r>
                  <a:rPr lang="en-US" sz="165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I</a:t>
                </a: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18220060" y="1556484"/>
              <a:ext cx="1849331" cy="537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7"/>
                </a:lnSpc>
              </a:pPr>
              <a:r>
                <a:rPr lang="en-US" sz="176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Iterate</a:t>
              </a:r>
            </a:p>
          </p:txBody>
        </p:sp>
        <p:grpSp>
          <p:nvGrpSpPr>
            <p:cNvPr name="Group 52" id="52"/>
            <p:cNvGrpSpPr/>
            <p:nvPr/>
          </p:nvGrpSpPr>
          <p:grpSpPr>
            <a:xfrm rot="0">
              <a:off x="22193843" y="0"/>
              <a:ext cx="1260408" cy="1260408"/>
              <a:chOff x="0" y="0"/>
              <a:chExt cx="1018832" cy="101883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018794" cy="1018794"/>
              </a:xfrm>
              <a:custGeom>
                <a:avLst/>
                <a:gdLst/>
                <a:ahLst/>
                <a:cxnLst/>
                <a:rect r="r" b="b" t="t" l="l"/>
                <a:pathLst>
                  <a:path h="1018794" w="1018794">
                    <a:moveTo>
                      <a:pt x="0" y="509397"/>
                    </a:moveTo>
                    <a:cubicBezTo>
                      <a:pt x="0" y="228092"/>
                      <a:pt x="228092" y="0"/>
                      <a:pt x="509397" y="0"/>
                    </a:cubicBezTo>
                    <a:cubicBezTo>
                      <a:pt x="790702" y="0"/>
                      <a:pt x="1018794" y="228092"/>
                      <a:pt x="1018794" y="509397"/>
                    </a:cubicBezTo>
                    <a:cubicBezTo>
                      <a:pt x="1018794" y="790702"/>
                      <a:pt x="790702" y="1018794"/>
                      <a:pt x="509397" y="1018794"/>
                    </a:cubicBezTo>
                    <a:cubicBezTo>
                      <a:pt x="228092" y="1018794"/>
                      <a:pt x="0" y="790702"/>
                      <a:pt x="0" y="509397"/>
                    </a:cubicBezTo>
                    <a:close/>
                  </a:path>
                </a:pathLst>
              </a:custGeom>
              <a:solidFill>
                <a:srgbClr val="46E6AA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0"/>
                <a:ext cx="1018832" cy="10188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1"/>
                  </a:lnSpc>
                </a:pPr>
                <a:r>
                  <a:rPr lang="en-US" sz="165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W</a:t>
                </a: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21571078" y="1556484"/>
              <a:ext cx="1849331" cy="537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7"/>
                </a:lnSpc>
              </a:pPr>
              <a:r>
                <a:rPr lang="en-US" sz="176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Write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630626" y="530814"/>
            <a:ext cx="1922567" cy="491824"/>
            <a:chOff x="0" y="0"/>
            <a:chExt cx="2563423" cy="65576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983675" y="622240"/>
            <a:ext cx="16014659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Integration &amp; Verification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2235" y="1509941"/>
            <a:ext cx="1578569" cy="75495"/>
            <a:chOff x="0" y="0"/>
            <a:chExt cx="2104758" cy="100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4771" cy="100711"/>
            </a:xfrm>
            <a:custGeom>
              <a:avLst/>
              <a:gdLst/>
              <a:ahLst/>
              <a:cxnLst/>
              <a:rect r="r" b="b" t="t" l="l"/>
              <a:pathLst>
                <a:path h="100711" w="2104771">
                  <a:moveTo>
                    <a:pt x="0" y="0"/>
                  </a:moveTo>
                  <a:lnTo>
                    <a:pt x="2104771" y="0"/>
                  </a:lnTo>
                  <a:lnTo>
                    <a:pt x="2104771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6EBFF"/>
            </a:solidFill>
          </p:spPr>
          <p:txBody>
            <a:bodyPr/>
            <a:p/>
          </p:txBody>
        </p:sp>
      </p:grpSp>
      <p:sp>
        <p:nvSpPr>
          <p:cNvPr name="TextBox 7" id="7"/>
          <p:cNvSpPr txBox="true"/>
          <p:nvPr/>
        </p:nvSpPr>
        <p:spPr>
          <a:xfrm rot="0">
            <a:off x="983675" y="1720377"/>
            <a:ext cx="1601465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E0DEFF"/>
                </a:solidFill>
                <a:latin typeface="Aptos"/>
                <a:ea typeface="Aptos"/>
                <a:cs typeface="Aptos"/>
                <a:sym typeface="Aptos"/>
              </a:rPr>
              <a:t>We integrate bottom-up so every module is testable before the final CPU run.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0796" y="2322100"/>
            <a:ext cx="777850" cy="777850"/>
            <a:chOff x="0" y="0"/>
            <a:chExt cx="1037133" cy="10371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7082" cy="1037082"/>
            </a:xfrm>
            <a:custGeom>
              <a:avLst/>
              <a:gdLst/>
              <a:ahLst/>
              <a:cxnLst/>
              <a:rect r="r" b="b" t="t" l="l"/>
              <a:pathLst>
                <a:path h="1037082" w="1037082">
                  <a:moveTo>
                    <a:pt x="0" y="518541"/>
                  </a:moveTo>
                  <a:cubicBezTo>
                    <a:pt x="0" y="232156"/>
                    <a:pt x="232156" y="0"/>
                    <a:pt x="518541" y="0"/>
                  </a:cubicBezTo>
                  <a:cubicBezTo>
                    <a:pt x="804926" y="0"/>
                    <a:pt x="1037082" y="232156"/>
                    <a:pt x="1037082" y="518541"/>
                  </a:cubicBezTo>
                  <a:cubicBezTo>
                    <a:pt x="1037082" y="804926"/>
                    <a:pt x="804926" y="1037082"/>
                    <a:pt x="518541" y="1037082"/>
                  </a:cubicBezTo>
                  <a:cubicBezTo>
                    <a:pt x="232156" y="1037082"/>
                    <a:pt x="0" y="804926"/>
                    <a:pt x="0" y="518541"/>
                  </a:cubicBezTo>
                  <a:close/>
                </a:path>
              </a:pathLst>
            </a:custGeom>
            <a:solidFill>
              <a:srgbClr val="96EBFF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37133" cy="103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0500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13185" y="2351808"/>
            <a:ext cx="379787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96EBFF"/>
                </a:solidFill>
                <a:latin typeface="Aptos Bold"/>
                <a:ea typeface="Aptos Bold"/>
                <a:cs typeface="Aptos Bold"/>
                <a:sym typeface="Aptos Bold"/>
              </a:rPr>
              <a:t>UNIT TEST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13185" y="2900877"/>
            <a:ext cx="3797875" cy="34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ALU + registers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13185" y="3477397"/>
            <a:ext cx="379787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FAAD2"/>
                </a:solidFill>
                <a:latin typeface="Aptos"/>
                <a:ea typeface="Aptos"/>
                <a:cs typeface="Aptos"/>
                <a:sym typeface="Aptos"/>
              </a:rPr>
              <a:t>Known operands → expected result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77384" y="2322100"/>
            <a:ext cx="777850" cy="777850"/>
            <a:chOff x="0" y="0"/>
            <a:chExt cx="1037133" cy="10371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7082" cy="1037082"/>
            </a:xfrm>
            <a:custGeom>
              <a:avLst/>
              <a:gdLst/>
              <a:ahLst/>
              <a:cxnLst/>
              <a:rect r="r" b="b" t="t" l="l"/>
              <a:pathLst>
                <a:path h="1037082" w="1037082">
                  <a:moveTo>
                    <a:pt x="0" y="518541"/>
                  </a:moveTo>
                  <a:cubicBezTo>
                    <a:pt x="0" y="232156"/>
                    <a:pt x="232156" y="0"/>
                    <a:pt x="518541" y="0"/>
                  </a:cubicBezTo>
                  <a:cubicBezTo>
                    <a:pt x="804926" y="0"/>
                    <a:pt x="1037082" y="232156"/>
                    <a:pt x="1037082" y="518541"/>
                  </a:cubicBezTo>
                  <a:cubicBezTo>
                    <a:pt x="1037082" y="804926"/>
                    <a:pt x="804926" y="1037082"/>
                    <a:pt x="518541" y="1037082"/>
                  </a:cubicBezTo>
                  <a:cubicBezTo>
                    <a:pt x="232156" y="1037082"/>
                    <a:pt x="0" y="804926"/>
                    <a:pt x="0" y="518541"/>
                  </a:cubicBezTo>
                  <a:close/>
                </a:path>
              </a:pathLst>
            </a:custGeom>
            <a:solidFill>
              <a:srgbClr val="785FFF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37133" cy="103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0500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709773" y="2351808"/>
            <a:ext cx="379787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785FFF"/>
                </a:solidFill>
                <a:latin typeface="Aptos Bold"/>
                <a:ea typeface="Aptos Bold"/>
                <a:cs typeface="Aptos Bold"/>
                <a:sym typeface="Aptos Bold"/>
              </a:rPr>
              <a:t>CONNECT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09773" y="2900877"/>
            <a:ext cx="3797875" cy="34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Datapath + FSM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09773" y="3477397"/>
            <a:ext cx="379787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FAAD2"/>
                </a:solidFill>
                <a:latin typeface="Aptos"/>
                <a:ea typeface="Aptos"/>
                <a:cs typeface="Aptos"/>
                <a:sym typeface="Aptos"/>
              </a:rPr>
              <a:t>Single-cycle ADD/SUB first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273982" y="2322100"/>
            <a:ext cx="777850" cy="777850"/>
            <a:chOff x="0" y="0"/>
            <a:chExt cx="1037133" cy="10371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7082" cy="1037082"/>
            </a:xfrm>
            <a:custGeom>
              <a:avLst/>
              <a:gdLst/>
              <a:ahLst/>
              <a:cxnLst/>
              <a:rect r="r" b="b" t="t" l="l"/>
              <a:pathLst>
                <a:path h="1037082" w="1037082">
                  <a:moveTo>
                    <a:pt x="0" y="518541"/>
                  </a:moveTo>
                  <a:cubicBezTo>
                    <a:pt x="0" y="232156"/>
                    <a:pt x="232156" y="0"/>
                    <a:pt x="518541" y="0"/>
                  </a:cubicBezTo>
                  <a:cubicBezTo>
                    <a:pt x="804926" y="0"/>
                    <a:pt x="1037082" y="232156"/>
                    <a:pt x="1037082" y="518541"/>
                  </a:cubicBezTo>
                  <a:cubicBezTo>
                    <a:pt x="1037082" y="804926"/>
                    <a:pt x="804926" y="1037082"/>
                    <a:pt x="518541" y="1037082"/>
                  </a:cubicBezTo>
                  <a:cubicBezTo>
                    <a:pt x="232156" y="1037082"/>
                    <a:pt x="0" y="804926"/>
                    <a:pt x="0" y="518541"/>
                  </a:cubicBezTo>
                  <a:close/>
                </a:path>
              </a:pathLst>
            </a:custGeom>
            <a:solidFill>
              <a:srgbClr val="46E6AA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037133" cy="103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0500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406361" y="2351808"/>
            <a:ext cx="379787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46E6AA"/>
                </a:solidFill>
                <a:latin typeface="Aptos Bold"/>
                <a:ea typeface="Aptos Bold"/>
                <a:cs typeface="Aptos Bold"/>
                <a:sym typeface="Aptos Bold"/>
              </a:rPr>
              <a:t>EXPAND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06361" y="2900877"/>
            <a:ext cx="3797875" cy="34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Cache + RAM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06361" y="3477397"/>
            <a:ext cx="379787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FAAD2"/>
                </a:solidFill>
                <a:latin typeface="Aptos"/>
                <a:ea typeface="Aptos"/>
                <a:cs typeface="Aptos"/>
                <a:sym typeface="Aptos"/>
              </a:rPr>
              <a:t>LOAD/STORE + HIT/MISS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80796" y="5410619"/>
            <a:ext cx="777850" cy="777850"/>
            <a:chOff x="0" y="0"/>
            <a:chExt cx="1037133" cy="10371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7082" cy="1037082"/>
            </a:xfrm>
            <a:custGeom>
              <a:avLst/>
              <a:gdLst/>
              <a:ahLst/>
              <a:cxnLst/>
              <a:rect r="r" b="b" t="t" l="l"/>
              <a:pathLst>
                <a:path h="1037082" w="1037082">
                  <a:moveTo>
                    <a:pt x="0" y="518541"/>
                  </a:moveTo>
                  <a:cubicBezTo>
                    <a:pt x="0" y="232156"/>
                    <a:pt x="232156" y="0"/>
                    <a:pt x="518541" y="0"/>
                  </a:cubicBezTo>
                  <a:cubicBezTo>
                    <a:pt x="804926" y="0"/>
                    <a:pt x="1037082" y="232156"/>
                    <a:pt x="1037082" y="518541"/>
                  </a:cubicBezTo>
                  <a:cubicBezTo>
                    <a:pt x="1037082" y="804926"/>
                    <a:pt x="804926" y="1037082"/>
                    <a:pt x="518541" y="1037082"/>
                  </a:cubicBezTo>
                  <a:cubicBezTo>
                    <a:pt x="232156" y="1037082"/>
                    <a:pt x="0" y="804926"/>
                    <a:pt x="0" y="518541"/>
                  </a:cubicBezTo>
                  <a:close/>
                </a:path>
              </a:pathLst>
            </a:custGeom>
            <a:solidFill>
              <a:srgbClr val="FFDA5C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037133" cy="103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0500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013185" y="5440318"/>
            <a:ext cx="379787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DA5C"/>
                </a:solidFill>
                <a:latin typeface="Aptos Bold"/>
                <a:ea typeface="Aptos Bold"/>
                <a:cs typeface="Aptos Bold"/>
                <a:sym typeface="Aptos Bold"/>
              </a:rPr>
              <a:t>ACCELERATE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13185" y="5989396"/>
            <a:ext cx="3797875" cy="34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Booth multiplier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13185" y="6565916"/>
            <a:ext cx="379787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FAAD2"/>
                </a:solidFill>
                <a:latin typeface="Aptos"/>
                <a:ea typeface="Aptos"/>
                <a:cs typeface="Aptos"/>
                <a:sym typeface="Aptos"/>
              </a:rPr>
              <a:t>Edge cases: −2^27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577384" y="5410619"/>
            <a:ext cx="777850" cy="777850"/>
            <a:chOff x="0" y="0"/>
            <a:chExt cx="1037133" cy="10371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37082" cy="1037082"/>
            </a:xfrm>
            <a:custGeom>
              <a:avLst/>
              <a:gdLst/>
              <a:ahLst/>
              <a:cxnLst/>
              <a:rect r="r" b="b" t="t" l="l"/>
              <a:pathLst>
                <a:path h="1037082" w="1037082">
                  <a:moveTo>
                    <a:pt x="0" y="518541"/>
                  </a:moveTo>
                  <a:cubicBezTo>
                    <a:pt x="0" y="232156"/>
                    <a:pt x="232156" y="0"/>
                    <a:pt x="518541" y="0"/>
                  </a:cubicBezTo>
                  <a:cubicBezTo>
                    <a:pt x="804926" y="0"/>
                    <a:pt x="1037082" y="232156"/>
                    <a:pt x="1037082" y="518541"/>
                  </a:cubicBezTo>
                  <a:cubicBezTo>
                    <a:pt x="1037082" y="804926"/>
                    <a:pt x="804926" y="1037082"/>
                    <a:pt x="518541" y="1037082"/>
                  </a:cubicBezTo>
                  <a:cubicBezTo>
                    <a:pt x="232156" y="1037082"/>
                    <a:pt x="0" y="804926"/>
                    <a:pt x="0" y="518541"/>
                  </a:cubicBezTo>
                  <a:close/>
                </a:path>
              </a:pathLst>
            </a:custGeom>
            <a:solidFill>
              <a:srgbClr val="FF82BE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037133" cy="103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0500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709773" y="5440318"/>
            <a:ext cx="379787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82BE"/>
                </a:solidFill>
                <a:latin typeface="Aptos Bold"/>
                <a:ea typeface="Aptos Bold"/>
                <a:cs typeface="Aptos Bold"/>
                <a:sym typeface="Aptos Bold"/>
              </a:rPr>
              <a:t>HARDEN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09773" y="5989396"/>
            <a:ext cx="3797875" cy="34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DMA + demo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09773" y="6565916"/>
            <a:ext cx="379787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FAAD2"/>
                </a:solidFill>
                <a:latin typeface="Aptos"/>
                <a:ea typeface="Aptos"/>
                <a:cs typeface="Aptos"/>
                <a:sym typeface="Aptos"/>
              </a:rPr>
              <a:t>Copy a block, cache stays right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273982" y="5410619"/>
            <a:ext cx="777850" cy="777850"/>
            <a:chOff x="0" y="0"/>
            <a:chExt cx="1037133" cy="103713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37082" cy="1037082"/>
            </a:xfrm>
            <a:custGeom>
              <a:avLst/>
              <a:gdLst/>
              <a:ahLst/>
              <a:cxnLst/>
              <a:rect r="r" b="b" t="t" l="l"/>
              <a:pathLst>
                <a:path h="1037082" w="1037082">
                  <a:moveTo>
                    <a:pt x="0" y="518541"/>
                  </a:moveTo>
                  <a:cubicBezTo>
                    <a:pt x="0" y="232156"/>
                    <a:pt x="232156" y="0"/>
                    <a:pt x="518541" y="0"/>
                  </a:cubicBezTo>
                  <a:cubicBezTo>
                    <a:pt x="804926" y="0"/>
                    <a:pt x="1037082" y="232156"/>
                    <a:pt x="1037082" y="518541"/>
                  </a:cubicBezTo>
                  <a:cubicBezTo>
                    <a:pt x="1037082" y="804926"/>
                    <a:pt x="804926" y="1037082"/>
                    <a:pt x="518541" y="1037082"/>
                  </a:cubicBezTo>
                  <a:cubicBezTo>
                    <a:pt x="232156" y="1037082"/>
                    <a:pt x="0" y="804926"/>
                    <a:pt x="0" y="518541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037133" cy="103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05004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406361" y="5440318"/>
            <a:ext cx="379787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FINAL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406361" y="5989396"/>
            <a:ext cx="3797875" cy="34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Program execution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06361" y="6565916"/>
            <a:ext cx="379787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FAAD2"/>
                </a:solidFill>
                <a:latin typeface="Aptos"/>
                <a:ea typeface="Aptos"/>
                <a:cs typeface="Aptos"/>
                <a:sym typeface="Aptos"/>
              </a:rPr>
              <a:t>Fetch → decode → execute → repeat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4378252" y="8702173"/>
            <a:ext cx="9568672" cy="742388"/>
            <a:chOff x="0" y="0"/>
            <a:chExt cx="12758230" cy="9898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758165" cy="989838"/>
            </a:xfrm>
            <a:custGeom>
              <a:avLst/>
              <a:gdLst/>
              <a:ahLst/>
              <a:cxnLst/>
              <a:rect r="r" b="b" t="t" l="l"/>
              <a:pathLst>
                <a:path h="989838" w="12758165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12593193" y="0"/>
                  </a:lnTo>
                  <a:cubicBezTo>
                    <a:pt x="12684251" y="0"/>
                    <a:pt x="12758165" y="73914"/>
                    <a:pt x="12758165" y="164973"/>
                  </a:cubicBezTo>
                  <a:lnTo>
                    <a:pt x="12758165" y="824865"/>
                  </a:lnTo>
                  <a:cubicBezTo>
                    <a:pt x="12758165" y="915924"/>
                    <a:pt x="12684251" y="989838"/>
                    <a:pt x="12593193" y="989838"/>
                  </a:cubicBezTo>
                  <a:lnTo>
                    <a:pt x="164973" y="989838"/>
                  </a:lnTo>
                  <a:cubicBezTo>
                    <a:pt x="73914" y="989838"/>
                    <a:pt x="0" y="915924"/>
                    <a:pt x="0" y="824865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2758230" cy="989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SUCCESS = matches the golden model + visible HIT/MISS + verified DMA copy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630626" y="530814"/>
            <a:ext cx="1922567" cy="491824"/>
            <a:chOff x="0" y="0"/>
            <a:chExt cx="2563423" cy="65576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162126" y="1831362"/>
            <a:ext cx="15962267" cy="2179008"/>
            <a:chOff x="0" y="0"/>
            <a:chExt cx="21283023" cy="290534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7807384" cy="984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39"/>
                </a:lnSpc>
              </a:pPr>
              <a:r>
                <a:rPr lang="en-US" sz="3866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FROM LOGIC GATES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05695"/>
              <a:ext cx="21283023" cy="1999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858"/>
                </a:lnSpc>
              </a:pPr>
              <a:r>
                <a:rPr lang="en-US" sz="988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 A WORKING COMPUTER.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62126" y="4633428"/>
            <a:ext cx="2814163" cy="2108795"/>
            <a:chOff x="0" y="0"/>
            <a:chExt cx="1809427" cy="13558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09409" cy="1355857"/>
            </a:xfrm>
            <a:custGeom>
              <a:avLst/>
              <a:gdLst/>
              <a:ahLst/>
              <a:cxnLst/>
              <a:rect r="r" b="b" t="t" l="l"/>
              <a:pathLst>
                <a:path h="1355857" w="1809409">
                  <a:moveTo>
                    <a:pt x="0" y="225934"/>
                  </a:moveTo>
                  <a:cubicBezTo>
                    <a:pt x="0" y="101219"/>
                    <a:pt x="48323" y="0"/>
                    <a:pt x="107862" y="0"/>
                  </a:cubicBezTo>
                  <a:lnTo>
                    <a:pt x="1701546" y="0"/>
                  </a:lnTo>
                  <a:cubicBezTo>
                    <a:pt x="1761146" y="0"/>
                    <a:pt x="1809409" y="101219"/>
                    <a:pt x="1809409" y="225934"/>
                  </a:cubicBezTo>
                  <a:lnTo>
                    <a:pt x="1809409" y="1129923"/>
                  </a:lnTo>
                  <a:cubicBezTo>
                    <a:pt x="1809409" y="1254765"/>
                    <a:pt x="1761086" y="1355857"/>
                    <a:pt x="1701546" y="1355857"/>
                  </a:cubicBezTo>
                  <a:lnTo>
                    <a:pt x="107862" y="1355857"/>
                  </a:lnTo>
                  <a:cubicBezTo>
                    <a:pt x="48323" y="1355857"/>
                    <a:pt x="0" y="1254765"/>
                    <a:pt x="0" y="1129923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96EB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809427" cy="1346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1"/>
                </a:lnSpc>
              </a:pPr>
              <a:r>
                <a:rPr lang="en-US" sz="40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355659" y="4633428"/>
            <a:ext cx="2814163" cy="2108795"/>
            <a:chOff x="0" y="0"/>
            <a:chExt cx="1809427" cy="13558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09409" cy="1355857"/>
            </a:xfrm>
            <a:custGeom>
              <a:avLst/>
              <a:gdLst/>
              <a:ahLst/>
              <a:cxnLst/>
              <a:rect r="r" b="b" t="t" l="l"/>
              <a:pathLst>
                <a:path h="1355857" w="1809409">
                  <a:moveTo>
                    <a:pt x="0" y="225934"/>
                  </a:moveTo>
                  <a:cubicBezTo>
                    <a:pt x="0" y="101219"/>
                    <a:pt x="48323" y="0"/>
                    <a:pt x="107862" y="0"/>
                  </a:cubicBezTo>
                  <a:lnTo>
                    <a:pt x="1701546" y="0"/>
                  </a:lnTo>
                  <a:cubicBezTo>
                    <a:pt x="1761146" y="0"/>
                    <a:pt x="1809409" y="101219"/>
                    <a:pt x="1809409" y="225934"/>
                  </a:cubicBezTo>
                  <a:lnTo>
                    <a:pt x="1809409" y="1129923"/>
                  </a:lnTo>
                  <a:cubicBezTo>
                    <a:pt x="1809409" y="1254765"/>
                    <a:pt x="1761086" y="1355857"/>
                    <a:pt x="1701546" y="1355857"/>
                  </a:cubicBezTo>
                  <a:lnTo>
                    <a:pt x="107862" y="1355857"/>
                  </a:lnTo>
                  <a:cubicBezTo>
                    <a:pt x="48323" y="1355857"/>
                    <a:pt x="0" y="1254765"/>
                    <a:pt x="0" y="1129923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785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1809427" cy="1346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1"/>
                </a:lnSpc>
              </a:pPr>
              <a:r>
                <a:rPr lang="en-US" sz="40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FSM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49201" y="4633428"/>
            <a:ext cx="2814163" cy="2108795"/>
            <a:chOff x="0" y="0"/>
            <a:chExt cx="1809427" cy="1355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09409" cy="1355857"/>
            </a:xfrm>
            <a:custGeom>
              <a:avLst/>
              <a:gdLst/>
              <a:ahLst/>
              <a:cxnLst/>
              <a:rect r="r" b="b" t="t" l="l"/>
              <a:pathLst>
                <a:path h="1355857" w="1809409">
                  <a:moveTo>
                    <a:pt x="0" y="225934"/>
                  </a:moveTo>
                  <a:cubicBezTo>
                    <a:pt x="0" y="101219"/>
                    <a:pt x="48323" y="0"/>
                    <a:pt x="107862" y="0"/>
                  </a:cubicBezTo>
                  <a:lnTo>
                    <a:pt x="1701546" y="0"/>
                  </a:lnTo>
                  <a:cubicBezTo>
                    <a:pt x="1761146" y="0"/>
                    <a:pt x="1809409" y="101219"/>
                    <a:pt x="1809409" y="225934"/>
                  </a:cubicBezTo>
                  <a:lnTo>
                    <a:pt x="1809409" y="1129923"/>
                  </a:lnTo>
                  <a:cubicBezTo>
                    <a:pt x="1809409" y="1254765"/>
                    <a:pt x="1761086" y="1355857"/>
                    <a:pt x="1701546" y="1355857"/>
                  </a:cubicBezTo>
                  <a:lnTo>
                    <a:pt x="107862" y="1355857"/>
                  </a:lnTo>
                  <a:cubicBezTo>
                    <a:pt x="48323" y="1355857"/>
                    <a:pt x="0" y="1254765"/>
                    <a:pt x="0" y="1129923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DA5C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1809427" cy="1346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1"/>
                </a:lnSpc>
              </a:pPr>
              <a:r>
                <a:rPr lang="en-US" sz="40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BOOTH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42734" y="4633428"/>
            <a:ext cx="2814163" cy="2108795"/>
            <a:chOff x="0" y="0"/>
            <a:chExt cx="1809427" cy="13558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09409" cy="1355857"/>
            </a:xfrm>
            <a:custGeom>
              <a:avLst/>
              <a:gdLst/>
              <a:ahLst/>
              <a:cxnLst/>
              <a:rect r="r" b="b" t="t" l="l"/>
              <a:pathLst>
                <a:path h="1355857" w="1809409">
                  <a:moveTo>
                    <a:pt x="0" y="225934"/>
                  </a:moveTo>
                  <a:cubicBezTo>
                    <a:pt x="0" y="101219"/>
                    <a:pt x="48323" y="0"/>
                    <a:pt x="107862" y="0"/>
                  </a:cubicBezTo>
                  <a:lnTo>
                    <a:pt x="1701546" y="0"/>
                  </a:lnTo>
                  <a:cubicBezTo>
                    <a:pt x="1761146" y="0"/>
                    <a:pt x="1809409" y="101219"/>
                    <a:pt x="1809409" y="225934"/>
                  </a:cubicBezTo>
                  <a:lnTo>
                    <a:pt x="1809409" y="1129923"/>
                  </a:lnTo>
                  <a:cubicBezTo>
                    <a:pt x="1809409" y="1254765"/>
                    <a:pt x="1761086" y="1355857"/>
                    <a:pt x="1701546" y="1355857"/>
                  </a:cubicBezTo>
                  <a:lnTo>
                    <a:pt x="107862" y="1355857"/>
                  </a:lnTo>
                  <a:cubicBezTo>
                    <a:pt x="48323" y="1355857"/>
                    <a:pt x="0" y="1254765"/>
                    <a:pt x="0" y="1129923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46E6A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809427" cy="1346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1"/>
                </a:lnSpc>
              </a:pPr>
              <a:r>
                <a:rPr lang="en-US" sz="40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CACHE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936276" y="4633428"/>
            <a:ext cx="2814163" cy="2108795"/>
            <a:chOff x="0" y="0"/>
            <a:chExt cx="1809427" cy="13558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9409" cy="1355857"/>
            </a:xfrm>
            <a:custGeom>
              <a:avLst/>
              <a:gdLst/>
              <a:ahLst/>
              <a:cxnLst/>
              <a:rect r="r" b="b" t="t" l="l"/>
              <a:pathLst>
                <a:path h="1355857" w="1809409">
                  <a:moveTo>
                    <a:pt x="0" y="225934"/>
                  </a:moveTo>
                  <a:cubicBezTo>
                    <a:pt x="0" y="101219"/>
                    <a:pt x="48323" y="0"/>
                    <a:pt x="107862" y="0"/>
                  </a:cubicBezTo>
                  <a:lnTo>
                    <a:pt x="1701546" y="0"/>
                  </a:lnTo>
                  <a:cubicBezTo>
                    <a:pt x="1761146" y="0"/>
                    <a:pt x="1809409" y="101219"/>
                    <a:pt x="1809409" y="225934"/>
                  </a:cubicBezTo>
                  <a:lnTo>
                    <a:pt x="1809409" y="1129923"/>
                  </a:lnTo>
                  <a:cubicBezTo>
                    <a:pt x="1809409" y="1254765"/>
                    <a:pt x="1761086" y="1355857"/>
                    <a:pt x="1701546" y="1355857"/>
                  </a:cubicBezTo>
                  <a:lnTo>
                    <a:pt x="107862" y="1355857"/>
                  </a:lnTo>
                  <a:cubicBezTo>
                    <a:pt x="48323" y="1355857"/>
                    <a:pt x="0" y="1254765"/>
                    <a:pt x="0" y="1129923"/>
                  </a:cubicBezTo>
                  <a:close/>
                </a:path>
              </a:pathLst>
            </a:custGeom>
            <a:solidFill>
              <a:srgbClr val="050046"/>
            </a:solidFill>
            <a:ln w="28597" cap="sq">
              <a:solidFill>
                <a:srgbClr val="FF82BE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1809427" cy="1346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1"/>
                </a:lnSpc>
              </a:pPr>
              <a:r>
                <a:rPr lang="en-US" sz="40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DMA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809806" y="7865860"/>
            <a:ext cx="14666908" cy="35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37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The final system demonstrates how computation, memory, control and reliability cooperate inside a CPU.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630626" y="530814"/>
            <a:ext cx="1922567" cy="491824"/>
            <a:chOff x="0" y="0"/>
            <a:chExt cx="2563423" cy="6557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0088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713638" y="2318639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98250" y="6246160"/>
            <a:ext cx="3203589" cy="1473651"/>
          </a:xfrm>
          <a:custGeom>
            <a:avLst/>
            <a:gdLst/>
            <a:ahLst/>
            <a:cxnLst/>
            <a:rect r="r" b="b" t="t" l="l"/>
            <a:pathLst>
              <a:path h="1473651" w="3203589">
                <a:moveTo>
                  <a:pt x="0" y="0"/>
                </a:moveTo>
                <a:lnTo>
                  <a:pt x="3203590" y="0"/>
                </a:lnTo>
                <a:lnTo>
                  <a:pt x="3203590" y="1473651"/>
                </a:lnTo>
                <a:lnTo>
                  <a:pt x="0" y="14736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5684" y="6502340"/>
            <a:ext cx="3203589" cy="1473651"/>
          </a:xfrm>
          <a:custGeom>
            <a:avLst/>
            <a:gdLst/>
            <a:ahLst/>
            <a:cxnLst/>
            <a:rect r="r" b="b" t="t" l="l"/>
            <a:pathLst>
              <a:path h="1473651" w="3203589">
                <a:moveTo>
                  <a:pt x="0" y="0"/>
                </a:moveTo>
                <a:lnTo>
                  <a:pt x="3203589" y="0"/>
                </a:lnTo>
                <a:lnTo>
                  <a:pt x="3203589" y="1473651"/>
                </a:lnTo>
                <a:lnTo>
                  <a:pt x="0" y="14736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572222" y="5641493"/>
            <a:ext cx="13721024" cy="3195346"/>
            <a:chOff x="0" y="0"/>
            <a:chExt cx="18294699" cy="426046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451393" y="448541"/>
              <a:ext cx="2803535" cy="2803535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5611" y="0"/>
                    </a:moveTo>
                    <a:lnTo>
                      <a:pt x="747189" y="0"/>
                    </a:lnTo>
                    <a:cubicBezTo>
                      <a:pt x="764590" y="0"/>
                      <a:pt x="781279" y="6913"/>
                      <a:pt x="793583" y="19217"/>
                    </a:cubicBezTo>
                    <a:cubicBezTo>
                      <a:pt x="805887" y="31521"/>
                      <a:pt x="812800" y="48210"/>
                      <a:pt x="812800" y="65611"/>
                    </a:cubicBezTo>
                    <a:lnTo>
                      <a:pt x="812800" y="747189"/>
                    </a:lnTo>
                    <a:cubicBezTo>
                      <a:pt x="812800" y="764590"/>
                      <a:pt x="805887" y="781279"/>
                      <a:pt x="793583" y="793583"/>
                    </a:cubicBezTo>
                    <a:cubicBezTo>
                      <a:pt x="781279" y="805887"/>
                      <a:pt x="764590" y="812800"/>
                      <a:pt x="747189" y="812800"/>
                    </a:cubicBezTo>
                    <a:lnTo>
                      <a:pt x="65611" y="812800"/>
                    </a:lnTo>
                    <a:cubicBezTo>
                      <a:pt x="48210" y="812800"/>
                      <a:pt x="31521" y="805887"/>
                      <a:pt x="19217" y="793583"/>
                    </a:cubicBezTo>
                    <a:cubicBezTo>
                      <a:pt x="6913" y="781279"/>
                      <a:pt x="0" y="764590"/>
                      <a:pt x="0" y="747189"/>
                    </a:cubicBezTo>
                    <a:lnTo>
                      <a:pt x="0" y="65611"/>
                    </a:lnTo>
                    <a:cubicBezTo>
                      <a:pt x="0" y="48210"/>
                      <a:pt x="6913" y="31521"/>
                      <a:pt x="19217" y="19217"/>
                    </a:cubicBezTo>
                    <a:cubicBezTo>
                      <a:pt x="31521" y="6913"/>
                      <a:pt x="48210" y="0"/>
                      <a:pt x="65611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11449" t="-12165" r="-33633" b="-32918"/>
                </a:stretch>
              </a:blip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161593"/>
              <a:ext cx="902785" cy="902785"/>
              <a:chOff x="0" y="0"/>
              <a:chExt cx="1165250" cy="116525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96EBFF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01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51393" y="3468716"/>
              <a:ext cx="3001541" cy="39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2"/>
                </a:lnSpc>
              </a:pPr>
              <a:r>
                <a:rPr lang="en-US" sz="1976" b="true">
                  <a:solidFill>
                    <a:srgbClr val="96EB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Shemonty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51393" y="3862293"/>
              <a:ext cx="3001541" cy="275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4"/>
                </a:lnSpc>
              </a:pPr>
              <a:r>
                <a:rPr lang="en-US" sz="139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Shemonty 2407107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3804035" y="480758"/>
              <a:ext cx="2791080" cy="279108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5903" y="0"/>
                    </a:moveTo>
                    <a:lnTo>
                      <a:pt x="746897" y="0"/>
                    </a:lnTo>
                    <a:cubicBezTo>
                      <a:pt x="764375" y="0"/>
                      <a:pt x="781138" y="6943"/>
                      <a:pt x="793497" y="19303"/>
                    </a:cubicBezTo>
                    <a:cubicBezTo>
                      <a:pt x="805857" y="31662"/>
                      <a:pt x="812800" y="48425"/>
                      <a:pt x="812800" y="65903"/>
                    </a:cubicBezTo>
                    <a:lnTo>
                      <a:pt x="812800" y="746897"/>
                    </a:lnTo>
                    <a:cubicBezTo>
                      <a:pt x="812800" y="764375"/>
                      <a:pt x="805857" y="781138"/>
                      <a:pt x="793497" y="793497"/>
                    </a:cubicBezTo>
                    <a:cubicBezTo>
                      <a:pt x="781138" y="805857"/>
                      <a:pt x="764375" y="812800"/>
                      <a:pt x="746897" y="812800"/>
                    </a:cubicBezTo>
                    <a:lnTo>
                      <a:pt x="65903" y="812800"/>
                    </a:lnTo>
                    <a:cubicBezTo>
                      <a:pt x="48425" y="812800"/>
                      <a:pt x="31662" y="805857"/>
                      <a:pt x="19303" y="793497"/>
                    </a:cubicBezTo>
                    <a:cubicBezTo>
                      <a:pt x="6943" y="781138"/>
                      <a:pt x="0" y="764375"/>
                      <a:pt x="0" y="746897"/>
                    </a:cubicBezTo>
                    <a:lnTo>
                      <a:pt x="0" y="65903"/>
                    </a:lnTo>
                    <a:cubicBezTo>
                      <a:pt x="0" y="48425"/>
                      <a:pt x="6943" y="31662"/>
                      <a:pt x="19303" y="19303"/>
                    </a:cubicBezTo>
                    <a:cubicBezTo>
                      <a:pt x="31662" y="6943"/>
                      <a:pt x="48425" y="0"/>
                      <a:pt x="65903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38191" t="-9901" r="-41492" b="-69782"/>
                </a:stretch>
              </a:blip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3594067" y="161593"/>
              <a:ext cx="954823" cy="954823"/>
              <a:chOff x="0" y="0"/>
              <a:chExt cx="1165250" cy="11652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785FFF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3728" lIns="53728" bIns="53728" rIns="53728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02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804035" y="3525995"/>
              <a:ext cx="3174553" cy="4257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7"/>
                </a:lnSpc>
              </a:pPr>
              <a:r>
                <a:rPr lang="en-US" sz="2089" b="true">
                  <a:solidFill>
                    <a:srgbClr val="785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Ratul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805190" y="3969078"/>
              <a:ext cx="3174553" cy="291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1"/>
                </a:lnSpc>
              </a:pPr>
              <a:r>
                <a:rPr lang="en-US" sz="147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Ratul 2407108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7398744" y="444552"/>
              <a:ext cx="2821081" cy="2821081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5203" y="0"/>
                    </a:moveTo>
                    <a:lnTo>
                      <a:pt x="747597" y="0"/>
                    </a:lnTo>
                    <a:cubicBezTo>
                      <a:pt x="783608" y="0"/>
                      <a:pt x="812800" y="29192"/>
                      <a:pt x="812800" y="65203"/>
                    </a:cubicBezTo>
                    <a:lnTo>
                      <a:pt x="812800" y="747597"/>
                    </a:lnTo>
                    <a:cubicBezTo>
                      <a:pt x="812800" y="783608"/>
                      <a:pt x="783608" y="812800"/>
                      <a:pt x="747597" y="812800"/>
                    </a:cubicBezTo>
                    <a:lnTo>
                      <a:pt x="65203" y="812800"/>
                    </a:lnTo>
                    <a:cubicBezTo>
                      <a:pt x="29192" y="812800"/>
                      <a:pt x="0" y="783608"/>
                      <a:pt x="0" y="747597"/>
                    </a:cubicBezTo>
                    <a:lnTo>
                      <a:pt x="0" y="65203"/>
                    </a:lnTo>
                    <a:cubicBezTo>
                      <a:pt x="0" y="29192"/>
                      <a:pt x="29192" y="0"/>
                      <a:pt x="65203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6979742" y="161593"/>
              <a:ext cx="902785" cy="902785"/>
              <a:chOff x="0" y="0"/>
              <a:chExt cx="1165250" cy="116525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FFDA5C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03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7398744" y="3471955"/>
              <a:ext cx="3001541" cy="39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0"/>
                </a:lnSpc>
              </a:pPr>
              <a:r>
                <a:rPr lang="en-US" sz="1975" b="true">
                  <a:solidFill>
                    <a:srgbClr val="FFDA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Mahima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398744" y="3881885"/>
              <a:ext cx="3001541" cy="275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4"/>
                </a:lnSpc>
              </a:pPr>
              <a:r>
                <a:rPr lang="en-US" sz="139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Mahima 2407106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14439930" y="279719"/>
              <a:ext cx="2817992" cy="2817992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5274" y="0"/>
                    </a:moveTo>
                    <a:lnTo>
                      <a:pt x="747526" y="0"/>
                    </a:lnTo>
                    <a:cubicBezTo>
                      <a:pt x="764838" y="0"/>
                      <a:pt x="781440" y="6877"/>
                      <a:pt x="793682" y="19118"/>
                    </a:cubicBezTo>
                    <a:cubicBezTo>
                      <a:pt x="805923" y="31360"/>
                      <a:pt x="812800" y="47962"/>
                      <a:pt x="812800" y="65274"/>
                    </a:cubicBezTo>
                    <a:lnTo>
                      <a:pt x="812800" y="747526"/>
                    </a:lnTo>
                    <a:cubicBezTo>
                      <a:pt x="812800" y="764838"/>
                      <a:pt x="805923" y="781440"/>
                      <a:pt x="793682" y="793682"/>
                    </a:cubicBezTo>
                    <a:cubicBezTo>
                      <a:pt x="781440" y="805923"/>
                      <a:pt x="764838" y="812800"/>
                      <a:pt x="747526" y="812800"/>
                    </a:cubicBezTo>
                    <a:lnTo>
                      <a:pt x="65274" y="812800"/>
                    </a:lnTo>
                    <a:cubicBezTo>
                      <a:pt x="47962" y="812800"/>
                      <a:pt x="31360" y="805923"/>
                      <a:pt x="19118" y="793682"/>
                    </a:cubicBezTo>
                    <a:cubicBezTo>
                      <a:pt x="6877" y="781440"/>
                      <a:pt x="0" y="764838"/>
                      <a:pt x="0" y="747526"/>
                    </a:cubicBezTo>
                    <a:lnTo>
                      <a:pt x="0" y="65274"/>
                    </a:lnTo>
                    <a:cubicBezTo>
                      <a:pt x="0" y="47962"/>
                      <a:pt x="6877" y="31360"/>
                      <a:pt x="19118" y="19118"/>
                    </a:cubicBezTo>
                    <a:cubicBezTo>
                      <a:pt x="31360" y="6877"/>
                      <a:pt x="47962" y="0"/>
                      <a:pt x="65274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4138303" y="0"/>
              <a:ext cx="902785" cy="902785"/>
              <a:chOff x="0" y="0"/>
              <a:chExt cx="1165250" cy="116525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FF82BE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05</a:t>
                </a: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4439930" y="3359399"/>
              <a:ext cx="3854769" cy="39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0"/>
                </a:lnSpc>
              </a:pPr>
              <a:r>
                <a:rPr lang="en-US" sz="1975" b="true">
                  <a:solidFill>
                    <a:srgbClr val="FF82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Thowai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4439930" y="3814030"/>
              <a:ext cx="3001541" cy="275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4"/>
                </a:lnSpc>
              </a:pPr>
              <a:r>
                <a:rPr lang="en-US" sz="139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Thowai 2407109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10805547" y="308785"/>
              <a:ext cx="2927495" cy="2927495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62833" y="0"/>
                    </a:moveTo>
                    <a:lnTo>
                      <a:pt x="749967" y="0"/>
                    </a:lnTo>
                    <a:cubicBezTo>
                      <a:pt x="766632" y="0"/>
                      <a:pt x="782613" y="6620"/>
                      <a:pt x="794397" y="18403"/>
                    </a:cubicBezTo>
                    <a:cubicBezTo>
                      <a:pt x="806180" y="30187"/>
                      <a:pt x="812800" y="46168"/>
                      <a:pt x="812800" y="62833"/>
                    </a:cubicBezTo>
                    <a:lnTo>
                      <a:pt x="812800" y="749967"/>
                    </a:lnTo>
                    <a:cubicBezTo>
                      <a:pt x="812800" y="766632"/>
                      <a:pt x="806180" y="782613"/>
                      <a:pt x="794397" y="794397"/>
                    </a:cubicBezTo>
                    <a:cubicBezTo>
                      <a:pt x="782613" y="806180"/>
                      <a:pt x="766632" y="812800"/>
                      <a:pt x="749967" y="812800"/>
                    </a:cubicBezTo>
                    <a:lnTo>
                      <a:pt x="62833" y="812800"/>
                    </a:lnTo>
                    <a:cubicBezTo>
                      <a:pt x="46168" y="812800"/>
                      <a:pt x="30187" y="806180"/>
                      <a:pt x="18403" y="794397"/>
                    </a:cubicBezTo>
                    <a:cubicBezTo>
                      <a:pt x="6620" y="782613"/>
                      <a:pt x="0" y="766632"/>
                      <a:pt x="0" y="749967"/>
                    </a:cubicBezTo>
                    <a:lnTo>
                      <a:pt x="0" y="62833"/>
                    </a:lnTo>
                    <a:cubicBezTo>
                      <a:pt x="0" y="46168"/>
                      <a:pt x="6620" y="30187"/>
                      <a:pt x="18403" y="18403"/>
                    </a:cubicBezTo>
                    <a:cubicBezTo>
                      <a:pt x="30187" y="6620"/>
                      <a:pt x="46168" y="0"/>
                      <a:pt x="62833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10538037" y="161593"/>
              <a:ext cx="902785" cy="902785"/>
              <a:chOff x="0" y="0"/>
              <a:chExt cx="1165250" cy="116525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65225" cy="1165225"/>
              </a:xfrm>
              <a:custGeom>
                <a:avLst/>
                <a:gdLst/>
                <a:ahLst/>
                <a:cxnLst/>
                <a:rect r="r" b="b" t="t" l="l"/>
                <a:pathLst>
                  <a:path h="1165225" w="1165225">
                    <a:moveTo>
                      <a:pt x="0" y="582676"/>
                    </a:moveTo>
                    <a:cubicBezTo>
                      <a:pt x="0" y="260858"/>
                      <a:pt x="260858" y="0"/>
                      <a:pt x="582676" y="0"/>
                    </a:cubicBezTo>
                    <a:cubicBezTo>
                      <a:pt x="904494" y="0"/>
                      <a:pt x="1165225" y="260858"/>
                      <a:pt x="1165225" y="582676"/>
                    </a:cubicBezTo>
                    <a:cubicBezTo>
                      <a:pt x="1165225" y="904494"/>
                      <a:pt x="904367" y="1165225"/>
                      <a:pt x="582676" y="1165225"/>
                    </a:cubicBezTo>
                    <a:cubicBezTo>
                      <a:pt x="260985" y="1165225"/>
                      <a:pt x="0" y="904367"/>
                      <a:pt x="0" y="582676"/>
                    </a:cubicBezTo>
                    <a:close/>
                  </a:path>
                </a:pathLst>
              </a:custGeom>
              <a:solidFill>
                <a:srgbClr val="46E6AA"/>
              </a:solidFill>
              <a:ln w="22878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0"/>
                <a:ext cx="1165250" cy="1165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1"/>
                  </a:lnSpc>
                </a:pPr>
                <a:r>
                  <a:rPr lang="en-US" sz="1801" b="true">
                    <a:solidFill>
                      <a:srgbClr val="050046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04</a:t>
                </a: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10805547" y="3464564"/>
              <a:ext cx="3001541" cy="39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0"/>
                </a:lnSpc>
              </a:pPr>
              <a:r>
                <a:rPr lang="en-US" sz="1975" b="true">
                  <a:solidFill>
                    <a:srgbClr val="46E6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Rup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0805547" y="3881885"/>
              <a:ext cx="3001541" cy="275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4"/>
                </a:lnSpc>
              </a:pPr>
              <a:r>
                <a:rPr lang="en-US" sz="139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Rup 2407109</a:t>
              </a:r>
            </a:p>
          </p:txBody>
        </p:sp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104321" y="1996401"/>
            <a:ext cx="1360714" cy="1328653"/>
          </a:xfrm>
          <a:prstGeom prst="rect">
            <a:avLst/>
          </a:prstGeom>
        </p:spPr>
      </p:pic>
      <p:sp>
        <p:nvSpPr>
          <p:cNvPr name="TextBox 44" id="44"/>
          <p:cNvSpPr txBox="true"/>
          <p:nvPr/>
        </p:nvSpPr>
        <p:spPr>
          <a:xfrm rot="0">
            <a:off x="5731516" y="2153528"/>
            <a:ext cx="10951812" cy="77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5150">
                <a:solidFill>
                  <a:srgbClr val="46E6AA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28-bit</a:t>
            </a:r>
            <a:r>
              <a:rPr lang="en-US" sz="515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Computer Designing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193175" y="1900949"/>
            <a:ext cx="431985" cy="417690"/>
            <a:chOff x="0" y="0"/>
            <a:chExt cx="840618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40618" cy="812800"/>
            </a:xfrm>
            <a:custGeom>
              <a:avLst/>
              <a:gdLst/>
              <a:ahLst/>
              <a:cxnLst/>
              <a:rect r="r" b="b" t="t" l="l"/>
              <a:pathLst>
                <a:path h="812800" w="840618">
                  <a:moveTo>
                    <a:pt x="420309" y="0"/>
                  </a:moveTo>
                  <a:cubicBezTo>
                    <a:pt x="188179" y="0"/>
                    <a:pt x="0" y="181951"/>
                    <a:pt x="0" y="406400"/>
                  </a:cubicBezTo>
                  <a:cubicBezTo>
                    <a:pt x="0" y="630849"/>
                    <a:pt x="188179" y="812800"/>
                    <a:pt x="420309" y="812800"/>
                  </a:cubicBezTo>
                  <a:cubicBezTo>
                    <a:pt x="652439" y="812800"/>
                    <a:pt x="840618" y="630849"/>
                    <a:pt x="840618" y="406400"/>
                  </a:cubicBezTo>
                  <a:cubicBezTo>
                    <a:pt x="840618" y="181951"/>
                    <a:pt x="652439" y="0"/>
                    <a:pt x="420309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-1711" r="0" b="-1711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630626" y="530814"/>
            <a:ext cx="1922567" cy="491824"/>
            <a:chOff x="0" y="0"/>
            <a:chExt cx="2563423" cy="65576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5765" cy="655765"/>
            </a:xfrm>
            <a:custGeom>
              <a:avLst/>
              <a:gdLst/>
              <a:ahLst/>
              <a:cxnLst/>
              <a:rect r="r" b="b" t="t" l="l"/>
              <a:pathLst>
                <a:path h="655765" w="655765">
                  <a:moveTo>
                    <a:pt x="0" y="0"/>
                  </a:moveTo>
                  <a:lnTo>
                    <a:pt x="655765" y="0"/>
                  </a:lnTo>
                  <a:lnTo>
                    <a:pt x="655765" y="655765"/>
                  </a:lnTo>
                  <a:lnTo>
                    <a:pt x="0" y="65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856241" y="61182"/>
              <a:ext cx="170718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0"/>
                </a:lnSpc>
              </a:pPr>
              <a:r>
                <a:rPr lang="en-US" sz="2675">
                  <a:solidFill>
                    <a:srgbClr val="FFFFFF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Page </a:t>
              </a:r>
              <a:r>
                <a:rPr lang="en-US" sz="2675">
                  <a:solidFill>
                    <a:srgbClr val="46E6AA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15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048767" y="3494397"/>
            <a:ext cx="9941499" cy="21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6"/>
              </a:lnSpc>
            </a:pPr>
            <a:r>
              <a:rPr lang="en-US" sz="1438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THANK</a:t>
            </a:r>
            <a:r>
              <a:rPr lang="en-US" sz="14380" b="true">
                <a:solidFill>
                  <a:srgbClr val="96EBFF"/>
                </a:solidFill>
                <a:latin typeface="Aptos Bold"/>
                <a:ea typeface="Aptos Bold"/>
                <a:cs typeface="Aptos Bold"/>
                <a:sym typeface="Aptos Bold"/>
              </a:rPr>
              <a:t> YOU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731516" y="2918962"/>
            <a:ext cx="10951812" cy="33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225">
                <a:solidFill>
                  <a:srgbClr val="FFDA5C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Computer Architecture </a:t>
            </a:r>
            <a:r>
              <a:rPr lang="en-US" sz="2225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Project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15173" y="1959442"/>
            <a:ext cx="1252763" cy="30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4"/>
              </a:lnSpc>
            </a:pPr>
            <a:r>
              <a:rPr lang="en-US" sz="1987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LOGISIM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3675" y="420000"/>
            <a:ext cx="163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 Bold"/>
              </a:rPr>
              <a:t>The Finished Circuit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983675" y="1330000"/>
            <a:ext cx="1578569" cy="75495"/>
          </a:xfrm>
          <a:prstGeom prst="rect">
            <a:avLst/>
          </a:prstGeom>
          <a:solidFill>
            <a:srgbClr val="96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3675" y="1480000"/>
            <a:ext cx="163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96EBFF"/>
                </a:solidFill>
                <a:latin typeface="Aptos"/>
              </a:rPr>
              <a:t>Computer_28bit.circ  •  main circuit, screenshot from Logisim 2.7.1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00" y="2090000"/>
            <a:ext cx="17008000" cy="521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2150000"/>
            <a:ext cx="16888000" cy="5097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3675" y="420000"/>
            <a:ext cx="163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 Bold"/>
              </a:rPr>
              <a:t>Control Unit: ROM + State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83675" y="1330000"/>
            <a:ext cx="1578569" cy="75495"/>
          </a:xfrm>
          <a:prstGeom prst="rect">
            <a:avLst/>
          </a:prstGeom>
          <a:solidFill>
            <a:srgbClr val="96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3675" y="1480000"/>
            <a:ext cx="163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96EBFF"/>
                </a:solidFill>
                <a:latin typeface="Aptos"/>
              </a:rPr>
              <a:t>1024 × 28 control ROM, addressed by {state, opcode}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0045" y="2090000"/>
            <a:ext cx="10327909" cy="780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trol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045" y="2150000"/>
            <a:ext cx="10207909" cy="76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3675" y="420000"/>
            <a:ext cx="163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 Bold"/>
              </a:rPr>
              <a:t>Datapath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983675" y="1330000"/>
            <a:ext cx="1578569" cy="75495"/>
          </a:xfrm>
          <a:prstGeom prst="rect">
            <a:avLst/>
          </a:prstGeom>
          <a:solidFill>
            <a:srgbClr val="96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3675" y="1480000"/>
            <a:ext cx="163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96EBFF"/>
                </a:solidFill>
                <a:latin typeface="Aptos"/>
              </a:rPr>
              <a:t>PC, IR, 16-register file, ALU, Booth unit, write-back mux</a:t>
            </a:r>
          </a:p>
        </p:txBody>
      </p:sp>
      <p:sp>
        <p:nvSpPr>
          <p:cNvPr id="6" name="Rectangle 5"/>
          <p:cNvSpPr/>
          <p:nvPr/>
        </p:nvSpPr>
        <p:spPr>
          <a:xfrm>
            <a:off x="3512297" y="2090000"/>
            <a:ext cx="11263406" cy="780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297" y="2150000"/>
            <a:ext cx="11143406" cy="76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3675" y="420000"/>
            <a:ext cx="163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 Bold"/>
              </a:rPr>
              <a:t>Booth Multiplier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83675" y="1330000"/>
            <a:ext cx="1578569" cy="75495"/>
          </a:xfrm>
          <a:prstGeom prst="rect">
            <a:avLst/>
          </a:prstGeom>
          <a:solidFill>
            <a:srgbClr val="96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3675" y="1480000"/>
            <a:ext cx="163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96EBFF"/>
                </a:solidFill>
                <a:latin typeface="Aptos"/>
              </a:rPr>
              <a:t>M, A, Q, Q−1 and a counter around one 29-bit 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839069" y="2090000"/>
            <a:ext cx="10609862" cy="780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o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069" y="2150000"/>
            <a:ext cx="10489862" cy="76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3675" y="420000"/>
            <a:ext cx="163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 Bold"/>
              </a:rPr>
              <a:t>DMA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83675" y="1330000"/>
            <a:ext cx="1578569" cy="75495"/>
          </a:xfrm>
          <a:prstGeom prst="rect">
            <a:avLst/>
          </a:prstGeom>
          <a:solidFill>
            <a:srgbClr val="96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3675" y="1480000"/>
            <a:ext cx="163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96EBFF"/>
                </a:solidFill>
                <a:latin typeface="Aptos"/>
              </a:rPr>
              <a:t>Two cycles per word; every write clears the matching cache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55079" y="2090000"/>
            <a:ext cx="13577841" cy="780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079" y="2150000"/>
            <a:ext cx="13457841" cy="76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3675" y="420000"/>
            <a:ext cx="163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 Bold"/>
              </a:rPr>
              <a:t>Results: checked in real Logisim 2.7.1</a:t>
            </a:r>
          </a:p>
        </p:txBody>
      </p:sp>
      <p:sp>
        <p:nvSpPr>
          <p:cNvPr id="4" name="Rectangle 3"/>
          <p:cNvSpPr/>
          <p:nvPr/>
        </p:nvSpPr>
        <p:spPr>
          <a:xfrm>
            <a:off x="983675" y="1330000"/>
            <a:ext cx="1578569" cy="75495"/>
          </a:xfrm>
          <a:prstGeom prst="rect">
            <a:avLst/>
          </a:prstGeom>
          <a:solidFill>
            <a:srgbClr val="96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3675" y="1800000"/>
            <a:ext cx="78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96EBFF"/>
                </a:solidFill>
                <a:latin typeface="Aptos"/>
              </a:rPr>
              <a:t>How we tested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ptos"/>
              </a:rPr>
              <a:t>• A Python instruction-set simulator, written separately from the circuit, runs every program too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ptos"/>
              </a:rPr>
              <a:t>• The circuit runs headless in Logisim 2.7.1; we compare every value written to Out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ptos"/>
              </a:rPr>
              <a:t>• 4 hand-written programs + 37 random programs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ptos"/>
              </a:rPr>
              <a:t>• All match, including Booth edge cases like (−2^27) × (−2^27)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0000" y="1800000"/>
            <a:ext cx="80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96EBFF"/>
                </a:solidFill>
                <a:latin typeface="Aptos"/>
              </a:rPr>
              <a:t>Demo program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ptos"/>
              </a:rPr>
              <a:t>• 818 instructions executed, 17 output values, all correct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ptos"/>
              </a:rPr>
              <a:t>• 10! = 3628800; 123456789 × 98765432 = 45423444 × 2^28 + 195687384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ptos"/>
              </a:rPr>
              <a:t>• Cache: 914 look-ups, 208 misses, 706 hits (about 77% hit rate)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ptos"/>
              </a:rPr>
              <a:t>• DMA copy of 32 words verified by a checksum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ptos"/>
              </a:rPr>
              <a:t>• Not built: divider and parity (future work)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DAHWRTh_G2k</dc:identifier>
  <dcterms:modified xsi:type="dcterms:W3CDTF">2011-08-01T06:04:30Z</dcterms:modified>
  <cp:revision>1</cp:revision>
  <dc:title>28_bit_Logisim_Computer_Architecture_Presentation</dc:title>
</cp:coreProperties>
</file>